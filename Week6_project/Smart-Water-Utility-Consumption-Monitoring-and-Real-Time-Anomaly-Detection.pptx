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84" r:id="rId7"/>
    <p:sldId id="261" r:id="rId8"/>
    <p:sldId id="263" r:id="rId9"/>
    <p:sldId id="264" r:id="rId10"/>
    <p:sldId id="266" r:id="rId11"/>
    <p:sldId id="267" r:id="rId12"/>
    <p:sldId id="270" r:id="rId13"/>
    <p:sldId id="272" r:id="rId14"/>
    <p:sldId id="273" r:id="rId15"/>
    <p:sldId id="280" r:id="rId16"/>
    <p:sldId id="281" r:id="rId17"/>
    <p:sldId id="282" r:id="rId18"/>
    <p:sldId id="283" r:id="rId19"/>
    <p:sldId id="285" r:id="rId20"/>
  </p:sldIdLst>
  <p:sldSz cx="14630400" cy="8229600"/>
  <p:notesSz cx="8229600" cy="14630400"/>
  <p:embeddedFontLst>
    <p:embeddedFont>
      <p:font typeface="Montserrat Bold" panose="00000800000000000000" pitchFamily="2" charset="0"/>
      <p:bold r:id="rId22"/>
    </p:embeddedFont>
    <p:embeddedFont>
      <p:font typeface="Montserrat Light" panose="00000400000000000000" pitchFamily="2" charset="0"/>
      <p:regular r:id="rId23"/>
      <p:italic r:id="rId24"/>
    </p:embeddedFont>
    <p:embeddedFont>
      <p:font typeface="Source Sans 3"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0825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A9DFF-6778-460F-E83D-93B9FD0B9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8C990-688A-17DA-5570-3F56002C3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DA8D9-53D5-BAD1-4A10-904C175868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705402-D0CC-3079-C974-54B02FD2D30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076301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5F277-0F06-A56B-7E1F-D14094233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14E21-E8A9-C4A4-B851-208CCDDF9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5928D-D6FB-3DED-A536-A6C0EEB253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6B7AA8-F18F-6D84-7535-17241DB54FA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726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31.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6.svg"/><Relationship Id="rId4" Type="http://schemas.openxmlformats.org/officeDocument/2006/relationships/image" Target="../media/image32.sv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1462921"/>
            <a:ext cx="7416403" cy="2805113"/>
          </a:xfrm>
          <a:prstGeom prst="rect">
            <a:avLst/>
          </a:prstGeom>
          <a:noFill/>
          <a:ln/>
        </p:spPr>
        <p:txBody>
          <a:bodyPr wrap="square" lIns="0" tIns="0" rIns="0" bIns="0" rtlCol="0" anchor="t"/>
          <a:lstStyle/>
          <a:p>
            <a:pPr marL="0" indent="0" algn="l">
              <a:lnSpc>
                <a:spcPts val="5500"/>
              </a:lnSpc>
              <a:buNone/>
            </a:pPr>
            <a:r>
              <a:rPr lang="en-US" sz="4400" b="1" dirty="0">
                <a:solidFill>
                  <a:srgbClr val="000000"/>
                </a:solidFill>
                <a:latin typeface="Times New Roman" panose="02020603050405020304" pitchFamily="18" charset="0"/>
                <a:ea typeface="Montserrat Bold" pitchFamily="34" charset="-122"/>
                <a:cs typeface="Times New Roman" panose="02020603050405020304" pitchFamily="18" charset="0"/>
              </a:rPr>
              <a:t>Smart Water Utility: Consumption Monitoring &amp; Real-Time Anomaly Detection</a:t>
            </a:r>
            <a:endParaRPr lang="en-US" sz="4400" dirty="0">
              <a:latin typeface="Times New Roman" panose="02020603050405020304" pitchFamily="18" charset="0"/>
              <a:cs typeface="Times New Roman" panose="02020603050405020304" pitchFamily="18" charset="0"/>
            </a:endParaRPr>
          </a:p>
        </p:txBody>
      </p:sp>
      <p:sp>
        <p:nvSpPr>
          <p:cNvPr id="4" name="Text 1"/>
          <p:cNvSpPr/>
          <p:nvPr/>
        </p:nvSpPr>
        <p:spPr>
          <a:xfrm>
            <a:off x="863798" y="4638199"/>
            <a:ext cx="7416403" cy="370165"/>
          </a:xfrm>
          <a:prstGeom prst="rect">
            <a:avLst/>
          </a:prstGeom>
          <a:noFill/>
          <a:ln/>
        </p:spPr>
        <p:txBody>
          <a:bodyPr wrap="none" lIns="0" tIns="0" rIns="0" bIns="0" rtlCol="0" anchor="t"/>
          <a:lstStyle/>
          <a:p>
            <a:pPr marL="0" indent="0" algn="l">
              <a:lnSpc>
                <a:spcPts val="2900"/>
              </a:lnSpc>
              <a:buNone/>
            </a:pPr>
            <a:r>
              <a:rPr lang="en-US" sz="1900" b="1" dirty="0">
                <a:solidFill>
                  <a:srgbClr val="3D3838"/>
                </a:solidFill>
                <a:latin typeface="Times New Roman" panose="02020603050405020304" pitchFamily="18" charset="0"/>
                <a:ea typeface="Source Sans 3" pitchFamily="34" charset="-122"/>
                <a:cs typeface="Times New Roman" panose="02020603050405020304" pitchFamily="18" charset="0"/>
              </a:rPr>
              <a:t>Presented by:</a:t>
            </a:r>
            <a:r>
              <a:rPr lang="en-US" sz="1900" dirty="0">
                <a:solidFill>
                  <a:srgbClr val="3D3838"/>
                </a:solidFill>
                <a:latin typeface="Times New Roman" panose="02020603050405020304" pitchFamily="18" charset="0"/>
                <a:ea typeface="Source Sans 3" pitchFamily="34" charset="-122"/>
                <a:cs typeface="Times New Roman" panose="02020603050405020304" pitchFamily="18" charset="0"/>
              </a:rPr>
              <a:t> Pranjal Srivastava</a:t>
            </a:r>
            <a:endParaRPr lang="en-US" sz="1900" dirty="0">
              <a:latin typeface="Times New Roman" panose="02020603050405020304" pitchFamily="18" charset="0"/>
              <a:cs typeface="Times New Roman" panose="02020603050405020304" pitchFamily="18" charset="0"/>
            </a:endParaRPr>
          </a:p>
        </p:txBody>
      </p:sp>
      <p:sp>
        <p:nvSpPr>
          <p:cNvPr id="5" name="Text 2"/>
          <p:cNvSpPr/>
          <p:nvPr/>
        </p:nvSpPr>
        <p:spPr>
          <a:xfrm>
            <a:off x="863798" y="5286018"/>
            <a:ext cx="7416403" cy="148066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Times New Roman" panose="02020603050405020304" pitchFamily="18" charset="0"/>
                <a:ea typeface="Source Sans 3" pitchFamily="34" charset="-122"/>
                <a:cs typeface="Times New Roman" panose="02020603050405020304" pitchFamily="18" charset="0"/>
              </a:rPr>
              <a:t>An end-to-end data pipeline solution leveraging Akka, Kafka, Spark Streaming &amp; Batch, MySQL, Avro, JSON, S3, and Play Framework to transform water utility operations through real-time monitoring and intelligent anomaly detection.</a:t>
            </a:r>
            <a:endParaRPr lang="en-US"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3283" y="434697"/>
            <a:ext cx="5474137" cy="449104"/>
          </a:xfrm>
          <a:prstGeom prst="rect">
            <a:avLst/>
          </a:prstGeom>
          <a:noFill/>
          <a:ln/>
        </p:spPr>
        <p:txBody>
          <a:bodyPr wrap="none" lIns="0" tIns="0" rIns="0" bIns="0" rtlCol="0" anchor="t"/>
          <a:lstStyle/>
          <a:p>
            <a:pPr marL="0" indent="0" algn="l">
              <a:lnSpc>
                <a:spcPts val="3500"/>
              </a:lnSpc>
              <a:buNone/>
            </a:pPr>
            <a:r>
              <a:rPr lang="en-US" sz="2800" b="1" dirty="0">
                <a:solidFill>
                  <a:srgbClr val="000000"/>
                </a:solidFill>
                <a:latin typeface="Times New Roman" panose="02020603050405020304" pitchFamily="18" charset="0"/>
                <a:ea typeface="Montserrat Bold" pitchFamily="34" charset="-122"/>
                <a:cs typeface="Times New Roman" panose="02020603050405020304" pitchFamily="18" charset="0"/>
              </a:rPr>
              <a:t>Business Problem Statement</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553283" y="1278850"/>
            <a:ext cx="2155865" cy="269438"/>
          </a:xfrm>
          <a:prstGeom prst="rect">
            <a:avLst/>
          </a:prstGeom>
          <a:noFill/>
          <a:ln/>
        </p:spPr>
        <p:txBody>
          <a:bodyPr wrap="none" lIns="0" tIns="0" rIns="0" bIns="0" rtlCol="0" anchor="t"/>
          <a:lstStyle/>
          <a:p>
            <a:pPr marL="0" indent="0" algn="l">
              <a:lnSpc>
                <a:spcPts val="2100"/>
              </a:lnSpc>
              <a:buNone/>
            </a:pPr>
            <a:r>
              <a:rPr lang="en-US" sz="1650" b="1" dirty="0">
                <a:solidFill>
                  <a:srgbClr val="000000"/>
                </a:solidFill>
                <a:latin typeface="Times New Roman" panose="02020603050405020304" pitchFamily="18" charset="0"/>
                <a:ea typeface="Montserrat Bold" pitchFamily="34" charset="-122"/>
                <a:cs typeface="Times New Roman" panose="02020603050405020304" pitchFamily="18" charset="0"/>
              </a:rPr>
              <a:t>Core </a:t>
            </a:r>
            <a:r>
              <a:rPr lang="en-US" sz="2000" b="1" dirty="0">
                <a:solidFill>
                  <a:srgbClr val="000000"/>
                </a:solidFill>
                <a:latin typeface="Times New Roman" panose="02020603050405020304" pitchFamily="18" charset="0"/>
                <a:ea typeface="Montserrat Bold" pitchFamily="34" charset="-122"/>
                <a:cs typeface="Times New Roman" panose="02020603050405020304" pitchFamily="18" charset="0"/>
              </a:rPr>
              <a:t>Challenges</a:t>
            </a:r>
            <a:endParaRPr lang="en-US" sz="1650" dirty="0">
              <a:latin typeface="Times New Roman" panose="02020603050405020304" pitchFamily="18" charset="0"/>
              <a:cs typeface="Times New Roman" panose="02020603050405020304" pitchFamily="18" charset="0"/>
            </a:endParaRPr>
          </a:p>
        </p:txBody>
      </p:sp>
      <p:sp>
        <p:nvSpPr>
          <p:cNvPr id="4" name="Text 2"/>
          <p:cNvSpPr/>
          <p:nvPr/>
        </p:nvSpPr>
        <p:spPr>
          <a:xfrm>
            <a:off x="553283" y="1706285"/>
            <a:ext cx="6569035" cy="474345"/>
          </a:xfrm>
          <a:prstGeom prst="rect">
            <a:avLst/>
          </a:prstGeom>
          <a:noFill/>
          <a:ln/>
        </p:spPr>
        <p:txBody>
          <a:bodyPr wrap="square" lIns="0" tIns="0" rIns="0" bIns="0" rtlCol="0" anchor="t"/>
          <a:lstStyle/>
          <a:p>
            <a:pPr marL="0" indent="0" algn="l">
              <a:lnSpc>
                <a:spcPts val="185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City water utilities struggle with operational inefficiencies that impact both revenue and customer satisfaction:</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553283" y="2322909"/>
            <a:ext cx="6569035" cy="237173"/>
          </a:xfrm>
          <a:prstGeom prst="rect">
            <a:avLst/>
          </a:prstGeom>
          <a:noFill/>
          <a:ln/>
        </p:spPr>
        <p:txBody>
          <a:bodyPr wrap="none" lIns="0" tIns="0" rIns="0" bIns="0" rtlCol="0" anchor="t"/>
          <a:lstStyle/>
          <a:p>
            <a:pPr marL="342900" indent="-342900" algn="l">
              <a:lnSpc>
                <a:spcPts val="185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No real-time visibility into household water usage patterns</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553283" y="2615327"/>
            <a:ext cx="6569035" cy="237173"/>
          </a:xfrm>
          <a:prstGeom prst="rect">
            <a:avLst/>
          </a:prstGeom>
          <a:noFill/>
          <a:ln/>
        </p:spPr>
        <p:txBody>
          <a:bodyPr wrap="none" lIns="0" tIns="0" rIns="0" bIns="0" rtlCol="0" anchor="t"/>
          <a:lstStyle/>
          <a:p>
            <a:pPr marL="342900" indent="-342900" algn="l">
              <a:lnSpc>
                <a:spcPts val="185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Undetected leaks or abnormal consumption spikes</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553283" y="2907744"/>
            <a:ext cx="6569035" cy="237173"/>
          </a:xfrm>
          <a:prstGeom prst="rect">
            <a:avLst/>
          </a:prstGeom>
          <a:noFill/>
          <a:ln/>
        </p:spPr>
        <p:txBody>
          <a:bodyPr wrap="none" lIns="0" tIns="0" rIns="0" bIns="0" rtlCol="0" anchor="t"/>
          <a:lstStyle/>
          <a:p>
            <a:pPr marL="342900" indent="-342900" algn="l">
              <a:lnSpc>
                <a:spcPts val="185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Manual or delayed billing processes causing errors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553283" y="3200162"/>
            <a:ext cx="6569035" cy="237173"/>
          </a:xfrm>
          <a:prstGeom prst="rect">
            <a:avLst/>
          </a:prstGeom>
          <a:noFill/>
          <a:ln/>
        </p:spPr>
        <p:txBody>
          <a:bodyPr wrap="none" lIns="0" tIns="0" rIns="0" bIns="0" rtlCol="0" anchor="t"/>
          <a:lstStyle/>
          <a:p>
            <a:pPr marL="342900" indent="-342900" algn="l">
              <a:lnSpc>
                <a:spcPts val="1850"/>
              </a:lnSpc>
              <a:buSzPct val="100000"/>
              <a:buChar char="•"/>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Poor long-term usage insights limiting infrastructure planning</a:t>
            </a:r>
            <a:endParaRPr lang="en-US" sz="1600" dirty="0">
              <a:latin typeface="Times New Roman" panose="02020603050405020304" pitchFamily="18" charset="0"/>
              <a:cs typeface="Times New Roman" panose="02020603050405020304" pitchFamily="18" charset="0"/>
            </a:endParaRPr>
          </a:p>
        </p:txBody>
      </p:sp>
      <p:pic>
        <p:nvPicPr>
          <p:cNvPr id="9" name="Image 0" descr="preencoded.png"/>
          <p:cNvPicPr>
            <a:picLocks noChangeAspect="1"/>
          </p:cNvPicPr>
          <p:nvPr/>
        </p:nvPicPr>
        <p:blipFill>
          <a:blip r:embed="rId3"/>
          <a:stretch>
            <a:fillRect/>
          </a:stretch>
        </p:blipFill>
        <p:spPr>
          <a:xfrm>
            <a:off x="7952581" y="101600"/>
            <a:ext cx="6569035" cy="8015723"/>
          </a:xfrm>
          <a:prstGeom prst="rect">
            <a:avLst/>
          </a:prstGeom>
        </p:spPr>
      </p:pic>
      <p:sp>
        <p:nvSpPr>
          <p:cNvPr id="10" name="Text 7"/>
          <p:cNvSpPr/>
          <p:nvPr/>
        </p:nvSpPr>
        <p:spPr>
          <a:xfrm>
            <a:off x="545664" y="4114800"/>
            <a:ext cx="2155865" cy="269438"/>
          </a:xfrm>
          <a:prstGeom prst="rect">
            <a:avLst/>
          </a:prstGeom>
          <a:noFill/>
          <a:ln/>
        </p:spPr>
        <p:txBody>
          <a:bodyPr wrap="none" lIns="0" tIns="0" rIns="0" bIns="0" rtlCol="0" anchor="t"/>
          <a:lstStyle/>
          <a:p>
            <a:pPr marL="0" indent="0" algn="l">
              <a:lnSpc>
                <a:spcPts val="2100"/>
              </a:lnSpc>
              <a:buNone/>
            </a:pPr>
            <a:r>
              <a:rPr lang="en-US" sz="2000" b="1" dirty="0">
                <a:solidFill>
                  <a:srgbClr val="000000"/>
                </a:solidFill>
                <a:latin typeface="Times New Roman" panose="02020603050405020304" pitchFamily="18" charset="0"/>
                <a:ea typeface="Montserrat Bold" pitchFamily="34" charset="-122"/>
                <a:cs typeface="Times New Roman" panose="02020603050405020304" pitchFamily="18" charset="0"/>
              </a:rPr>
              <a:t>Business Impact</a:t>
            </a:r>
            <a:endParaRPr lang="en-US" sz="2000" dirty="0">
              <a:latin typeface="Times New Roman" panose="02020603050405020304" pitchFamily="18" charset="0"/>
              <a:cs typeface="Times New Roman" panose="02020603050405020304" pitchFamily="18" charset="0"/>
            </a:endParaRPr>
          </a:p>
        </p:txBody>
      </p:sp>
      <p:sp>
        <p:nvSpPr>
          <p:cNvPr id="11" name="Text 8"/>
          <p:cNvSpPr/>
          <p:nvPr/>
        </p:nvSpPr>
        <p:spPr>
          <a:xfrm>
            <a:off x="553283" y="4582537"/>
            <a:ext cx="6569035" cy="711518"/>
          </a:xfrm>
          <a:prstGeom prst="rect">
            <a:avLst/>
          </a:prstGeom>
          <a:noFill/>
          <a:ln/>
        </p:spPr>
        <p:txBody>
          <a:bodyPr wrap="square" lIns="0" tIns="0" rIns="0" bIns="0" rtlCol="0" anchor="t"/>
          <a:lstStyle/>
          <a:p>
            <a:pPr marL="0" indent="0" algn="l">
              <a:lnSpc>
                <a:spcPts val="1850"/>
              </a:lnSpc>
              <a:buNone/>
            </a:pPr>
            <a:r>
              <a:rPr lang="en-US" sz="1600" b="1" dirty="0">
                <a:solidFill>
                  <a:srgbClr val="3D3838"/>
                </a:solidFill>
                <a:latin typeface="Times New Roman" panose="02020603050405020304" pitchFamily="18" charset="0"/>
                <a:ea typeface="Source Sans 3" pitchFamily="34" charset="-122"/>
                <a:cs typeface="Times New Roman" panose="02020603050405020304" pitchFamily="18" charset="0"/>
              </a:rPr>
              <a:t>The consequences are significant:</a:t>
            </a: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 Revenue loss from unbilled consumption, massive water wastage from undetected leaks, and eroded customer trust due to billing inaccuracies and poor service responsiveness.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2004" y="622221"/>
            <a:ext cx="5143024" cy="642938"/>
          </a:xfrm>
          <a:prstGeom prst="rect">
            <a:avLst/>
          </a:prstGeom>
          <a:noFill/>
          <a:ln/>
        </p:spPr>
        <p:txBody>
          <a:bodyPr wrap="none" lIns="0" tIns="0" rIns="0" bIns="0" rtlCol="0" anchor="t"/>
          <a:lstStyle/>
          <a:p>
            <a:pPr marL="0" indent="0" algn="l">
              <a:lnSpc>
                <a:spcPts val="5050"/>
              </a:lnSpc>
              <a:buNone/>
            </a:pPr>
            <a:r>
              <a:rPr lang="en-US" sz="4000" b="1" dirty="0">
                <a:solidFill>
                  <a:srgbClr val="000000"/>
                </a:solidFill>
                <a:latin typeface="Times New Roman" panose="02020603050405020304" pitchFamily="18" charset="0"/>
                <a:ea typeface="Montserrat Bold" pitchFamily="34" charset="-122"/>
                <a:cs typeface="Times New Roman" panose="02020603050405020304" pitchFamily="18" charset="0"/>
              </a:rPr>
              <a:t>Project Objectives</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792004" y="1717715"/>
            <a:ext cx="4197906" cy="3172420"/>
          </a:xfrm>
          <a:prstGeom prst="roundRect">
            <a:avLst>
              <a:gd name="adj" fmla="val 1070"/>
            </a:avLst>
          </a:prstGeom>
          <a:solidFill>
            <a:srgbClr val="F2EEEE"/>
          </a:solidFill>
          <a:ln/>
        </p:spPr>
      </p:sp>
      <p:sp>
        <p:nvSpPr>
          <p:cNvPr id="4" name="Shape 2"/>
          <p:cNvSpPr/>
          <p:nvPr/>
        </p:nvSpPr>
        <p:spPr>
          <a:xfrm>
            <a:off x="1018223" y="1943933"/>
            <a:ext cx="678775" cy="678775"/>
          </a:xfrm>
          <a:prstGeom prst="roundRect">
            <a:avLst>
              <a:gd name="adj" fmla="val 13469980"/>
            </a:avLst>
          </a:prstGeom>
          <a:solidFill>
            <a:srgbClr val="2D2E34"/>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4913" y="2130623"/>
            <a:ext cx="305395" cy="305395"/>
          </a:xfrm>
          <a:prstGeom prst="rect">
            <a:avLst/>
          </a:prstGeom>
        </p:spPr>
      </p:pic>
      <p:sp>
        <p:nvSpPr>
          <p:cNvPr id="6" name="Text 3"/>
          <p:cNvSpPr/>
          <p:nvPr/>
        </p:nvSpPr>
        <p:spPr>
          <a:xfrm>
            <a:off x="1018223" y="2848928"/>
            <a:ext cx="2905601" cy="321469"/>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Real-Time Monitoring</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1018223" y="3306128"/>
            <a:ext cx="3745468" cy="1018342"/>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Continuously track water consumption from smart meters with second-level granularity for immediate visibility.</a:t>
            </a:r>
            <a:endParaRPr lang="en-US" sz="1750" dirty="0">
              <a:latin typeface="Times New Roman" panose="02020603050405020304" pitchFamily="18" charset="0"/>
              <a:cs typeface="Times New Roman" panose="02020603050405020304" pitchFamily="18" charset="0"/>
            </a:endParaRPr>
          </a:p>
        </p:txBody>
      </p:sp>
      <p:sp>
        <p:nvSpPr>
          <p:cNvPr id="8" name="Shape 5"/>
          <p:cNvSpPr/>
          <p:nvPr/>
        </p:nvSpPr>
        <p:spPr>
          <a:xfrm>
            <a:off x="5216128" y="1717715"/>
            <a:ext cx="4198025" cy="3172420"/>
          </a:xfrm>
          <a:prstGeom prst="roundRect">
            <a:avLst>
              <a:gd name="adj" fmla="val 1070"/>
            </a:avLst>
          </a:prstGeom>
          <a:solidFill>
            <a:srgbClr val="F2EEEE"/>
          </a:solidFill>
          <a:ln/>
        </p:spPr>
      </p:sp>
      <p:sp>
        <p:nvSpPr>
          <p:cNvPr id="9" name="Shape 6"/>
          <p:cNvSpPr/>
          <p:nvPr/>
        </p:nvSpPr>
        <p:spPr>
          <a:xfrm>
            <a:off x="5442347" y="1943933"/>
            <a:ext cx="678775" cy="678775"/>
          </a:xfrm>
          <a:prstGeom prst="roundRect">
            <a:avLst>
              <a:gd name="adj" fmla="val 13469980"/>
            </a:avLst>
          </a:prstGeom>
          <a:solidFill>
            <a:srgbClr val="2D2E34"/>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9037" y="2130623"/>
            <a:ext cx="305395" cy="305395"/>
          </a:xfrm>
          <a:prstGeom prst="rect">
            <a:avLst/>
          </a:prstGeom>
        </p:spPr>
      </p:pic>
      <p:sp>
        <p:nvSpPr>
          <p:cNvPr id="11" name="Text 7"/>
          <p:cNvSpPr/>
          <p:nvPr/>
        </p:nvSpPr>
        <p:spPr>
          <a:xfrm>
            <a:off x="5442347" y="2848928"/>
            <a:ext cx="2609374" cy="321469"/>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Anomaly Detection</a:t>
            </a:r>
            <a:endParaRPr lang="en-US" sz="2000" dirty="0">
              <a:latin typeface="Times New Roman" panose="02020603050405020304" pitchFamily="18" charset="0"/>
              <a:cs typeface="Times New Roman" panose="02020603050405020304" pitchFamily="18" charset="0"/>
            </a:endParaRPr>
          </a:p>
        </p:txBody>
      </p:sp>
      <p:sp>
        <p:nvSpPr>
          <p:cNvPr id="12" name="Text 8"/>
          <p:cNvSpPr/>
          <p:nvPr/>
        </p:nvSpPr>
        <p:spPr>
          <a:xfrm>
            <a:off x="5442347" y="3306128"/>
            <a:ext cx="3745587" cy="1018342"/>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Automatically identify sudden spikes and drops in consumption patterns to flag potential leaks or meter issues.</a:t>
            </a:r>
            <a:endParaRPr lang="en-US" sz="1750" dirty="0">
              <a:latin typeface="Times New Roman" panose="02020603050405020304" pitchFamily="18" charset="0"/>
              <a:cs typeface="Times New Roman" panose="02020603050405020304" pitchFamily="18" charset="0"/>
            </a:endParaRPr>
          </a:p>
        </p:txBody>
      </p:sp>
      <p:sp>
        <p:nvSpPr>
          <p:cNvPr id="13" name="Shape 9"/>
          <p:cNvSpPr/>
          <p:nvPr/>
        </p:nvSpPr>
        <p:spPr>
          <a:xfrm>
            <a:off x="9640372" y="1717715"/>
            <a:ext cx="4198025" cy="3172420"/>
          </a:xfrm>
          <a:prstGeom prst="roundRect">
            <a:avLst>
              <a:gd name="adj" fmla="val 1070"/>
            </a:avLst>
          </a:prstGeom>
          <a:solidFill>
            <a:srgbClr val="F2EEEE"/>
          </a:solidFill>
          <a:ln/>
        </p:spPr>
      </p:sp>
      <p:sp>
        <p:nvSpPr>
          <p:cNvPr id="14" name="Shape 10"/>
          <p:cNvSpPr/>
          <p:nvPr/>
        </p:nvSpPr>
        <p:spPr>
          <a:xfrm>
            <a:off x="9866590" y="1943933"/>
            <a:ext cx="678775" cy="678775"/>
          </a:xfrm>
          <a:prstGeom prst="roundRect">
            <a:avLst>
              <a:gd name="adj" fmla="val 13469980"/>
            </a:avLst>
          </a:prstGeom>
          <a:solidFill>
            <a:srgbClr val="2D2E34"/>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53280" y="2130623"/>
            <a:ext cx="305395" cy="305395"/>
          </a:xfrm>
          <a:prstGeom prst="rect">
            <a:avLst/>
          </a:prstGeom>
        </p:spPr>
      </p:pic>
      <p:sp>
        <p:nvSpPr>
          <p:cNvPr id="16" name="Text 11"/>
          <p:cNvSpPr/>
          <p:nvPr/>
        </p:nvSpPr>
        <p:spPr>
          <a:xfrm>
            <a:off x="9866590" y="2848928"/>
            <a:ext cx="2571512" cy="321469"/>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Accurate Billing</a:t>
            </a:r>
            <a:endParaRPr lang="en-US" sz="2000" dirty="0">
              <a:latin typeface="Times New Roman" panose="02020603050405020304" pitchFamily="18" charset="0"/>
              <a:cs typeface="Times New Roman" panose="02020603050405020304" pitchFamily="18" charset="0"/>
            </a:endParaRPr>
          </a:p>
        </p:txBody>
      </p:sp>
      <p:sp>
        <p:nvSpPr>
          <p:cNvPr id="17" name="Text 12"/>
          <p:cNvSpPr/>
          <p:nvPr/>
        </p:nvSpPr>
        <p:spPr>
          <a:xfrm>
            <a:off x="9866590" y="3306128"/>
            <a:ext cx="3745587" cy="1357789"/>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Generate precise monthly billing statements based on actual consumption data, eliminating estimation errors.</a:t>
            </a:r>
            <a:endParaRPr lang="en-US" sz="1750" dirty="0">
              <a:latin typeface="Times New Roman" panose="02020603050405020304" pitchFamily="18" charset="0"/>
              <a:cs typeface="Times New Roman" panose="02020603050405020304" pitchFamily="18" charset="0"/>
            </a:endParaRPr>
          </a:p>
        </p:txBody>
      </p:sp>
      <p:sp>
        <p:nvSpPr>
          <p:cNvPr id="18" name="Shape 13"/>
          <p:cNvSpPr/>
          <p:nvPr/>
        </p:nvSpPr>
        <p:spPr>
          <a:xfrm>
            <a:off x="792004" y="5116354"/>
            <a:ext cx="6410087" cy="2493526"/>
          </a:xfrm>
          <a:prstGeom prst="roundRect">
            <a:avLst>
              <a:gd name="adj" fmla="val 1361"/>
            </a:avLst>
          </a:prstGeom>
          <a:solidFill>
            <a:srgbClr val="F2EEEE"/>
          </a:solidFill>
          <a:ln/>
        </p:spPr>
      </p:sp>
      <p:sp>
        <p:nvSpPr>
          <p:cNvPr id="19" name="Shape 14"/>
          <p:cNvSpPr/>
          <p:nvPr/>
        </p:nvSpPr>
        <p:spPr>
          <a:xfrm>
            <a:off x="1018223" y="5342573"/>
            <a:ext cx="678775" cy="678775"/>
          </a:xfrm>
          <a:prstGeom prst="roundRect">
            <a:avLst>
              <a:gd name="adj" fmla="val 13469980"/>
            </a:avLst>
          </a:prstGeom>
          <a:solidFill>
            <a:srgbClr val="2D2E34"/>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04913" y="5529263"/>
            <a:ext cx="305395" cy="305395"/>
          </a:xfrm>
          <a:prstGeom prst="rect">
            <a:avLst/>
          </a:prstGeom>
        </p:spPr>
      </p:pic>
      <p:sp>
        <p:nvSpPr>
          <p:cNvPr id="21" name="Text 15"/>
          <p:cNvSpPr/>
          <p:nvPr/>
        </p:nvSpPr>
        <p:spPr>
          <a:xfrm>
            <a:off x="1018223" y="6247567"/>
            <a:ext cx="2773680" cy="321469"/>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Long-Term Analytics</a:t>
            </a:r>
            <a:endParaRPr lang="en-US" sz="2000" dirty="0">
              <a:latin typeface="Times New Roman" panose="02020603050405020304" pitchFamily="18" charset="0"/>
              <a:cs typeface="Times New Roman" panose="02020603050405020304" pitchFamily="18" charset="0"/>
            </a:endParaRPr>
          </a:p>
        </p:txBody>
      </p:sp>
      <p:sp>
        <p:nvSpPr>
          <p:cNvPr id="22" name="Text 16"/>
          <p:cNvSpPr/>
          <p:nvPr/>
        </p:nvSpPr>
        <p:spPr>
          <a:xfrm>
            <a:off x="1018223" y="6704767"/>
            <a:ext cx="5957649" cy="678894"/>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Store comprehensive historical usage data to support infrastructure planning and trend analysis.</a:t>
            </a:r>
            <a:endParaRPr lang="en-US" sz="1750" dirty="0">
              <a:latin typeface="Times New Roman" panose="02020603050405020304" pitchFamily="18" charset="0"/>
              <a:cs typeface="Times New Roman" panose="02020603050405020304" pitchFamily="18" charset="0"/>
            </a:endParaRPr>
          </a:p>
        </p:txBody>
      </p:sp>
      <p:sp>
        <p:nvSpPr>
          <p:cNvPr id="23" name="Shape 17"/>
          <p:cNvSpPr/>
          <p:nvPr/>
        </p:nvSpPr>
        <p:spPr>
          <a:xfrm>
            <a:off x="7428309" y="5116354"/>
            <a:ext cx="6410087" cy="2493526"/>
          </a:xfrm>
          <a:prstGeom prst="roundRect">
            <a:avLst>
              <a:gd name="adj" fmla="val 1361"/>
            </a:avLst>
          </a:prstGeom>
          <a:solidFill>
            <a:srgbClr val="F2EEEE"/>
          </a:solidFill>
          <a:ln/>
        </p:spPr>
      </p:sp>
      <p:sp>
        <p:nvSpPr>
          <p:cNvPr id="24" name="Shape 18"/>
          <p:cNvSpPr/>
          <p:nvPr/>
        </p:nvSpPr>
        <p:spPr>
          <a:xfrm>
            <a:off x="7654528" y="5342573"/>
            <a:ext cx="678775" cy="678775"/>
          </a:xfrm>
          <a:prstGeom prst="roundRect">
            <a:avLst>
              <a:gd name="adj" fmla="val 13469980"/>
            </a:avLst>
          </a:prstGeom>
          <a:solidFill>
            <a:srgbClr val="2D2E34"/>
          </a:solidFill>
          <a:ln/>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41218" y="5529263"/>
            <a:ext cx="305395" cy="305395"/>
          </a:xfrm>
          <a:prstGeom prst="rect">
            <a:avLst/>
          </a:prstGeom>
        </p:spPr>
      </p:pic>
      <p:sp>
        <p:nvSpPr>
          <p:cNvPr id="26" name="Text 19"/>
          <p:cNvSpPr/>
          <p:nvPr/>
        </p:nvSpPr>
        <p:spPr>
          <a:xfrm>
            <a:off x="7654528" y="6247567"/>
            <a:ext cx="2571512" cy="321469"/>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API Integration</a:t>
            </a:r>
            <a:endParaRPr lang="en-US" sz="2000" dirty="0">
              <a:latin typeface="Times New Roman" panose="02020603050405020304" pitchFamily="18" charset="0"/>
              <a:cs typeface="Times New Roman" panose="02020603050405020304" pitchFamily="18" charset="0"/>
            </a:endParaRPr>
          </a:p>
        </p:txBody>
      </p:sp>
      <p:sp>
        <p:nvSpPr>
          <p:cNvPr id="27" name="Text 20"/>
          <p:cNvSpPr/>
          <p:nvPr/>
        </p:nvSpPr>
        <p:spPr>
          <a:xfrm>
            <a:off x="7654528" y="6704767"/>
            <a:ext cx="5957649" cy="678894"/>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Expose insights through lightweight REST APIs for seamless integration with existing utility systems.</a:t>
            </a:r>
            <a:endParaRPr lang="en-US" sz="1750" dirty="0">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41484269-6E10-DAAF-2A73-006E5F3FBEB2}"/>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17803" y="527209"/>
            <a:ext cx="5582245" cy="420410"/>
          </a:xfrm>
          <a:prstGeom prst="rect">
            <a:avLst/>
          </a:prstGeom>
          <a:noFill/>
          <a:ln/>
        </p:spPr>
        <p:txBody>
          <a:bodyPr wrap="none" lIns="0" tIns="0" rIns="0" bIns="0" rtlCol="0" anchor="t"/>
          <a:lstStyle/>
          <a:p>
            <a:pPr marL="0" indent="0" algn="l">
              <a:lnSpc>
                <a:spcPts val="3300"/>
              </a:lnSpc>
              <a:buNone/>
            </a:pPr>
            <a:r>
              <a:rPr lang="en-US" sz="2600" b="1" dirty="0">
                <a:solidFill>
                  <a:srgbClr val="000000"/>
                </a:solidFill>
                <a:latin typeface="Times New Roman" panose="02020603050405020304" pitchFamily="18" charset="0"/>
                <a:ea typeface="Montserrat Bold" pitchFamily="34" charset="-122"/>
                <a:cs typeface="Times New Roman" panose="02020603050405020304" pitchFamily="18" charset="0"/>
              </a:rPr>
              <a:t>Why a Data Pipeline Approach?</a:t>
            </a:r>
            <a:endParaRPr lang="en-US" sz="2600" dirty="0">
              <a:latin typeface="Times New Roman" panose="02020603050405020304" pitchFamily="18" charset="0"/>
              <a:cs typeface="Times New Roman" panose="02020603050405020304" pitchFamily="18" charset="0"/>
            </a:endParaRPr>
          </a:p>
        </p:txBody>
      </p:sp>
      <p:sp>
        <p:nvSpPr>
          <p:cNvPr id="4" name="Shape 1"/>
          <p:cNvSpPr/>
          <p:nvPr/>
        </p:nvSpPr>
        <p:spPr>
          <a:xfrm>
            <a:off x="619761" y="1197789"/>
            <a:ext cx="5852160" cy="1636058"/>
          </a:xfrm>
          <a:prstGeom prst="roundRect">
            <a:avLst>
              <a:gd name="adj" fmla="val 1719"/>
            </a:avLst>
          </a:prstGeom>
          <a:solidFill>
            <a:srgbClr val="FFFFFF"/>
          </a:solidFill>
          <a:ln w="15240">
            <a:solidFill>
              <a:srgbClr val="D8D4D4"/>
            </a:solidFill>
            <a:prstDash val="solid"/>
          </a:ln>
        </p:spPr>
      </p:sp>
      <p:sp>
        <p:nvSpPr>
          <p:cNvPr id="5" name="Text 2"/>
          <p:cNvSpPr/>
          <p:nvPr/>
        </p:nvSpPr>
        <p:spPr>
          <a:xfrm>
            <a:off x="887670" y="1443219"/>
            <a:ext cx="2241102" cy="266338"/>
          </a:xfrm>
          <a:prstGeom prst="rect">
            <a:avLst/>
          </a:prstGeom>
          <a:noFill/>
          <a:ln/>
        </p:spPr>
        <p:txBody>
          <a:bodyPr wrap="none" lIns="0" tIns="0" rIns="0" bIns="0" rtlCol="0" anchor="t"/>
          <a:lstStyle/>
          <a:p>
            <a:pPr marL="0" indent="0" algn="l">
              <a:lnSpc>
                <a:spcPts val="1650"/>
              </a:lnSpc>
              <a:buNone/>
            </a:pPr>
            <a:r>
              <a:rPr lang="en-US" b="1" dirty="0">
                <a:solidFill>
                  <a:srgbClr val="3D3838"/>
                </a:solidFill>
                <a:latin typeface="Times New Roman" panose="02020603050405020304" pitchFamily="18" charset="0"/>
                <a:ea typeface="Montserrat Bold" pitchFamily="34" charset="-122"/>
                <a:cs typeface="Times New Roman" panose="02020603050405020304" pitchFamily="18" charset="0"/>
              </a:rPr>
              <a:t>High-Volume Data</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891470" y="1790842"/>
            <a:ext cx="4870372" cy="843833"/>
          </a:xfrm>
          <a:prstGeom prst="rect">
            <a:avLst/>
          </a:prstGeom>
          <a:noFill/>
          <a:ln/>
        </p:spPr>
        <p:txBody>
          <a:bodyPr wrap="square" lIns="0" tIns="0" rIns="0" bIns="0" rtlCol="0" anchor="t"/>
          <a:lstStyle/>
          <a:p>
            <a:pPr marL="0" indent="0" algn="l">
              <a:lnSpc>
                <a:spcPts val="170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Smart meters generate readings every 10 seconds per household, creating massive data streams that require efficient ingestion and processing.</a:t>
            </a:r>
            <a:endParaRPr lang="en-US" sz="1600" dirty="0">
              <a:latin typeface="Times New Roman" panose="02020603050405020304" pitchFamily="18" charset="0"/>
              <a:cs typeface="Times New Roman" panose="02020603050405020304" pitchFamily="18" charset="0"/>
            </a:endParaRPr>
          </a:p>
        </p:txBody>
      </p:sp>
      <p:sp>
        <p:nvSpPr>
          <p:cNvPr id="7" name="Shape 4"/>
          <p:cNvSpPr/>
          <p:nvPr/>
        </p:nvSpPr>
        <p:spPr>
          <a:xfrm>
            <a:off x="7162800" y="1169551"/>
            <a:ext cx="6431280" cy="1636058"/>
          </a:xfrm>
          <a:prstGeom prst="roundRect">
            <a:avLst>
              <a:gd name="adj" fmla="val 0"/>
            </a:avLst>
          </a:prstGeom>
          <a:solidFill>
            <a:srgbClr val="FFFFFF"/>
          </a:solidFill>
          <a:ln w="15240">
            <a:solidFill>
              <a:srgbClr val="D8D4D4"/>
            </a:solidFill>
            <a:prstDash val="solid"/>
          </a:ln>
        </p:spPr>
      </p:sp>
      <p:sp>
        <p:nvSpPr>
          <p:cNvPr id="8" name="Text 5"/>
          <p:cNvSpPr/>
          <p:nvPr/>
        </p:nvSpPr>
        <p:spPr>
          <a:xfrm>
            <a:off x="7426361" y="1443219"/>
            <a:ext cx="3745263" cy="278068"/>
          </a:xfrm>
          <a:prstGeom prst="rect">
            <a:avLst/>
          </a:prstGeom>
          <a:noFill/>
          <a:ln/>
        </p:spPr>
        <p:txBody>
          <a:bodyPr wrap="none" lIns="0" tIns="0" rIns="0" bIns="0" rtlCol="0" anchor="t"/>
          <a:lstStyle/>
          <a:p>
            <a:pPr>
              <a:lnSpc>
                <a:spcPts val="1650"/>
              </a:lnSpc>
            </a:pPr>
            <a:r>
              <a:rPr lang="en-US" b="1" dirty="0">
                <a:solidFill>
                  <a:srgbClr val="3D3838"/>
                </a:solidFill>
                <a:latin typeface="Times New Roman" panose="02020603050405020304" pitchFamily="18" charset="0"/>
                <a:ea typeface="Montserrat Bold" pitchFamily="34" charset="-122"/>
                <a:cs typeface="Times New Roman" panose="02020603050405020304" pitchFamily="18" charset="0"/>
              </a:rPr>
              <a:t>Analytical Requirements</a:t>
            </a:r>
            <a:endParaRPr lang="en-US" dirty="0">
              <a:latin typeface="Times New Roman" panose="02020603050405020304" pitchFamily="18" charset="0"/>
              <a:cs typeface="Times New Roman" panose="02020603050405020304" pitchFamily="18" charset="0"/>
            </a:endParaRPr>
          </a:p>
        </p:txBody>
      </p:sp>
      <p:sp>
        <p:nvSpPr>
          <p:cNvPr id="9" name="Text 6"/>
          <p:cNvSpPr/>
          <p:nvPr/>
        </p:nvSpPr>
        <p:spPr>
          <a:xfrm>
            <a:off x="7426361" y="1790842"/>
            <a:ext cx="5904158" cy="662191"/>
          </a:xfrm>
          <a:prstGeom prst="rect">
            <a:avLst/>
          </a:prstGeom>
          <a:noFill/>
          <a:ln/>
        </p:spPr>
        <p:txBody>
          <a:bodyPr wrap="square" lIns="0" tIns="0" rIns="0" bIns="0" rtlCol="0" anchor="t"/>
          <a:lstStyle/>
          <a:p>
            <a:pPr>
              <a:lnSpc>
                <a:spcPts val="1700"/>
              </a:lnSpc>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Monthly billing, daily reports, and trend analysis require both real-time streaming and scheduled batch processing capabilities.</a:t>
            </a:r>
            <a:endParaRPr lang="en-US" sz="1600" dirty="0">
              <a:latin typeface="Times New Roman" panose="02020603050405020304" pitchFamily="18" charset="0"/>
              <a:cs typeface="Times New Roman" panose="02020603050405020304" pitchFamily="18" charset="0"/>
            </a:endParaRPr>
          </a:p>
        </p:txBody>
      </p:sp>
      <p:sp>
        <p:nvSpPr>
          <p:cNvPr id="13" name="Text 10"/>
          <p:cNvSpPr/>
          <p:nvPr/>
        </p:nvSpPr>
        <p:spPr>
          <a:xfrm>
            <a:off x="517803" y="3244611"/>
            <a:ext cx="2437328" cy="252174"/>
          </a:xfrm>
          <a:prstGeom prst="rect">
            <a:avLst/>
          </a:prstGeom>
          <a:noFill/>
          <a:ln/>
        </p:spPr>
        <p:txBody>
          <a:bodyPr wrap="none" lIns="0" tIns="0" rIns="0" bIns="0" rtlCol="0" anchor="t"/>
          <a:lstStyle/>
          <a:p>
            <a:pPr marL="0" indent="0" algn="l">
              <a:lnSpc>
                <a:spcPts val="1950"/>
              </a:lnSpc>
              <a:buNone/>
            </a:pPr>
            <a:r>
              <a:rPr lang="en-US" sz="2000" b="1" dirty="0">
                <a:solidFill>
                  <a:srgbClr val="000000"/>
                </a:solidFill>
                <a:latin typeface="Times New Roman" panose="02020603050405020304" pitchFamily="18" charset="0"/>
                <a:ea typeface="Montserrat Bold" pitchFamily="34" charset="-122"/>
                <a:cs typeface="Times New Roman" panose="02020603050405020304" pitchFamily="18" charset="0"/>
              </a:rPr>
              <a:t>Solution Requirements</a:t>
            </a:r>
            <a:endParaRPr lang="en-US" sz="2000" dirty="0">
              <a:latin typeface="Times New Roman" panose="02020603050405020304" pitchFamily="18" charset="0"/>
              <a:cs typeface="Times New Roman" panose="02020603050405020304" pitchFamily="18" charset="0"/>
            </a:endParaRPr>
          </a:p>
        </p:txBody>
      </p:sp>
      <p:pic>
        <p:nvPicPr>
          <p:cNvPr id="14" name="Image 1" descr="preencoded.png"/>
          <p:cNvPicPr>
            <a:picLocks noChangeAspect="1"/>
          </p:cNvPicPr>
          <p:nvPr/>
        </p:nvPicPr>
        <p:blipFill>
          <a:blip r:embed="rId3"/>
          <a:stretch>
            <a:fillRect/>
          </a:stretch>
        </p:blipFill>
        <p:spPr>
          <a:xfrm>
            <a:off x="517803" y="3718718"/>
            <a:ext cx="739735" cy="887730"/>
          </a:xfrm>
          <a:prstGeom prst="rect">
            <a:avLst/>
          </a:prstGeom>
        </p:spPr>
      </p:pic>
      <p:sp>
        <p:nvSpPr>
          <p:cNvPr id="15" name="Text 11"/>
          <p:cNvSpPr/>
          <p:nvPr/>
        </p:nvSpPr>
        <p:spPr>
          <a:xfrm>
            <a:off x="1405414" y="3866594"/>
            <a:ext cx="1775579" cy="210145"/>
          </a:xfrm>
          <a:prstGeom prst="rect">
            <a:avLst/>
          </a:prstGeom>
          <a:noFill/>
          <a:ln/>
        </p:spPr>
        <p:txBody>
          <a:bodyPr wrap="none" lIns="0" tIns="0" rIns="0" bIns="0" rtlCol="0" anchor="t"/>
          <a:lstStyle/>
          <a:p>
            <a:pPr marL="0" indent="0" algn="l">
              <a:lnSpc>
                <a:spcPts val="1650"/>
              </a:lnSpc>
              <a:buNone/>
            </a:pPr>
            <a:r>
              <a:rPr lang="en-US" b="1" dirty="0">
                <a:solidFill>
                  <a:srgbClr val="3D3838"/>
                </a:solidFill>
                <a:latin typeface="Times New Roman" panose="02020603050405020304" pitchFamily="18" charset="0"/>
                <a:ea typeface="Montserrat Bold" pitchFamily="34" charset="-122"/>
                <a:cs typeface="Times New Roman" panose="02020603050405020304" pitchFamily="18" charset="0"/>
              </a:rPr>
              <a:t>Streaming Pipelines</a:t>
            </a:r>
            <a:endParaRPr lang="en-US" dirty="0">
              <a:latin typeface="Times New Roman" panose="02020603050405020304" pitchFamily="18" charset="0"/>
              <a:cs typeface="Times New Roman" panose="02020603050405020304" pitchFamily="18" charset="0"/>
            </a:endParaRPr>
          </a:p>
        </p:txBody>
      </p:sp>
      <p:sp>
        <p:nvSpPr>
          <p:cNvPr id="16" name="Text 12"/>
          <p:cNvSpPr/>
          <p:nvPr/>
        </p:nvSpPr>
        <p:spPr>
          <a:xfrm>
            <a:off x="1405414" y="4165441"/>
            <a:ext cx="7220783" cy="221933"/>
          </a:xfrm>
          <a:prstGeom prst="rect">
            <a:avLst/>
          </a:prstGeom>
          <a:noFill/>
          <a:ln/>
        </p:spPr>
        <p:txBody>
          <a:bodyPr wrap="none" lIns="0" tIns="0" rIns="0" bIns="0" rtlCol="0" anchor="t"/>
          <a:lstStyle/>
          <a:p>
            <a:pPr marL="0" indent="0" algn="l">
              <a:lnSpc>
                <a:spcPts val="170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For real-time ingestion and processing</a:t>
            </a:r>
            <a:endParaRPr lang="en-US" sz="1600" dirty="0">
              <a:latin typeface="Times New Roman" panose="02020603050405020304" pitchFamily="18" charset="0"/>
              <a:cs typeface="Times New Roman" panose="02020603050405020304" pitchFamily="18" charset="0"/>
            </a:endParaRPr>
          </a:p>
        </p:txBody>
      </p:sp>
      <p:pic>
        <p:nvPicPr>
          <p:cNvPr id="17" name="Image 2" descr="preencoded.png"/>
          <p:cNvPicPr>
            <a:picLocks noChangeAspect="1"/>
          </p:cNvPicPr>
          <p:nvPr/>
        </p:nvPicPr>
        <p:blipFill>
          <a:blip r:embed="rId4"/>
          <a:stretch>
            <a:fillRect/>
          </a:stretch>
        </p:blipFill>
        <p:spPr>
          <a:xfrm>
            <a:off x="517803" y="4606448"/>
            <a:ext cx="739735" cy="887730"/>
          </a:xfrm>
          <a:prstGeom prst="rect">
            <a:avLst/>
          </a:prstGeom>
        </p:spPr>
      </p:pic>
      <p:sp>
        <p:nvSpPr>
          <p:cNvPr id="18" name="Text 13"/>
          <p:cNvSpPr/>
          <p:nvPr/>
        </p:nvSpPr>
        <p:spPr>
          <a:xfrm>
            <a:off x="1405414" y="4754324"/>
            <a:ext cx="1681401" cy="210145"/>
          </a:xfrm>
          <a:prstGeom prst="rect">
            <a:avLst/>
          </a:prstGeom>
          <a:noFill/>
          <a:ln/>
        </p:spPr>
        <p:txBody>
          <a:bodyPr wrap="none" lIns="0" tIns="0" rIns="0" bIns="0" rtlCol="0" anchor="t"/>
          <a:lstStyle/>
          <a:p>
            <a:pPr marL="0" indent="0" algn="l">
              <a:lnSpc>
                <a:spcPts val="1650"/>
              </a:lnSpc>
              <a:buNone/>
            </a:pPr>
            <a:r>
              <a:rPr lang="en-US" b="1" dirty="0">
                <a:solidFill>
                  <a:srgbClr val="3D3838"/>
                </a:solidFill>
                <a:latin typeface="Times New Roman" panose="02020603050405020304" pitchFamily="18" charset="0"/>
                <a:ea typeface="Montserrat Bold" pitchFamily="34" charset="-122"/>
                <a:cs typeface="Times New Roman" panose="02020603050405020304" pitchFamily="18" charset="0"/>
              </a:rPr>
              <a:t>Batch Analytics</a:t>
            </a:r>
            <a:endParaRPr lang="en-US" dirty="0">
              <a:latin typeface="Times New Roman" panose="02020603050405020304" pitchFamily="18" charset="0"/>
              <a:cs typeface="Times New Roman" panose="02020603050405020304" pitchFamily="18" charset="0"/>
            </a:endParaRPr>
          </a:p>
        </p:txBody>
      </p:sp>
      <p:sp>
        <p:nvSpPr>
          <p:cNvPr id="19" name="Text 14"/>
          <p:cNvSpPr/>
          <p:nvPr/>
        </p:nvSpPr>
        <p:spPr>
          <a:xfrm>
            <a:off x="1405414" y="5053171"/>
            <a:ext cx="7220783" cy="221933"/>
          </a:xfrm>
          <a:prstGeom prst="rect">
            <a:avLst/>
          </a:prstGeom>
          <a:noFill/>
          <a:ln/>
        </p:spPr>
        <p:txBody>
          <a:bodyPr wrap="none" lIns="0" tIns="0" rIns="0" bIns="0" rtlCol="0" anchor="t"/>
          <a:lstStyle/>
          <a:p>
            <a:pPr marL="0" indent="0" algn="l">
              <a:lnSpc>
                <a:spcPts val="170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For aggregation and reporting</a:t>
            </a:r>
            <a:endParaRPr lang="en-US" sz="1600" dirty="0">
              <a:latin typeface="Times New Roman" panose="02020603050405020304" pitchFamily="18" charset="0"/>
              <a:cs typeface="Times New Roman" panose="02020603050405020304" pitchFamily="18" charset="0"/>
            </a:endParaRPr>
          </a:p>
        </p:txBody>
      </p:sp>
      <p:pic>
        <p:nvPicPr>
          <p:cNvPr id="20" name="Image 3" descr="preencoded.png"/>
          <p:cNvPicPr>
            <a:picLocks noChangeAspect="1"/>
          </p:cNvPicPr>
          <p:nvPr/>
        </p:nvPicPr>
        <p:blipFill>
          <a:blip r:embed="rId5"/>
          <a:stretch>
            <a:fillRect/>
          </a:stretch>
        </p:blipFill>
        <p:spPr>
          <a:xfrm>
            <a:off x="517803" y="5494178"/>
            <a:ext cx="739735" cy="887730"/>
          </a:xfrm>
          <a:prstGeom prst="rect">
            <a:avLst/>
          </a:prstGeom>
        </p:spPr>
      </p:pic>
      <p:sp>
        <p:nvSpPr>
          <p:cNvPr id="21" name="Text 15"/>
          <p:cNvSpPr/>
          <p:nvPr/>
        </p:nvSpPr>
        <p:spPr>
          <a:xfrm>
            <a:off x="1405414" y="5642054"/>
            <a:ext cx="1681401" cy="210145"/>
          </a:xfrm>
          <a:prstGeom prst="rect">
            <a:avLst/>
          </a:prstGeom>
          <a:noFill/>
          <a:ln/>
        </p:spPr>
        <p:txBody>
          <a:bodyPr wrap="none" lIns="0" tIns="0" rIns="0" bIns="0" rtlCol="0" anchor="t"/>
          <a:lstStyle/>
          <a:p>
            <a:pPr marL="0" indent="0" algn="l">
              <a:lnSpc>
                <a:spcPts val="1650"/>
              </a:lnSpc>
              <a:buNone/>
            </a:pPr>
            <a:r>
              <a:rPr lang="en-US" b="1" dirty="0">
                <a:solidFill>
                  <a:srgbClr val="3D3838"/>
                </a:solidFill>
                <a:latin typeface="Times New Roman" panose="02020603050405020304" pitchFamily="18" charset="0"/>
                <a:ea typeface="Montserrat Bold" pitchFamily="34" charset="-122"/>
                <a:cs typeface="Times New Roman" panose="02020603050405020304" pitchFamily="18" charset="0"/>
              </a:rPr>
              <a:t>Multiple Storage</a:t>
            </a:r>
            <a:endParaRPr lang="en-US" dirty="0">
              <a:latin typeface="Times New Roman" panose="02020603050405020304" pitchFamily="18" charset="0"/>
              <a:cs typeface="Times New Roman" panose="02020603050405020304" pitchFamily="18" charset="0"/>
            </a:endParaRPr>
          </a:p>
        </p:txBody>
      </p:sp>
      <p:sp>
        <p:nvSpPr>
          <p:cNvPr id="22" name="Text 16"/>
          <p:cNvSpPr/>
          <p:nvPr/>
        </p:nvSpPr>
        <p:spPr>
          <a:xfrm>
            <a:off x="1405414" y="5940901"/>
            <a:ext cx="7220783" cy="221933"/>
          </a:xfrm>
          <a:prstGeom prst="rect">
            <a:avLst/>
          </a:prstGeom>
          <a:noFill/>
          <a:ln/>
        </p:spPr>
        <p:txBody>
          <a:bodyPr wrap="none" lIns="0" tIns="0" rIns="0" bIns="0" rtlCol="0" anchor="t"/>
          <a:lstStyle/>
          <a:p>
            <a:pPr marL="0" indent="0" algn="l">
              <a:lnSpc>
                <a:spcPts val="170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For hot and cold data access</a:t>
            </a:r>
            <a:endParaRPr lang="en-US" sz="1600" dirty="0">
              <a:latin typeface="Times New Roman" panose="02020603050405020304" pitchFamily="18" charset="0"/>
              <a:cs typeface="Times New Roman" panose="02020603050405020304" pitchFamily="18" charset="0"/>
            </a:endParaRPr>
          </a:p>
        </p:txBody>
      </p:sp>
      <p:pic>
        <p:nvPicPr>
          <p:cNvPr id="23" name="Image 4" descr="preencoded.png"/>
          <p:cNvPicPr>
            <a:picLocks noChangeAspect="1"/>
          </p:cNvPicPr>
          <p:nvPr/>
        </p:nvPicPr>
        <p:blipFill>
          <a:blip r:embed="rId6"/>
          <a:stretch>
            <a:fillRect/>
          </a:stretch>
        </p:blipFill>
        <p:spPr>
          <a:xfrm>
            <a:off x="517803" y="6381908"/>
            <a:ext cx="739735" cy="887730"/>
          </a:xfrm>
          <a:prstGeom prst="rect">
            <a:avLst/>
          </a:prstGeom>
        </p:spPr>
      </p:pic>
      <p:sp>
        <p:nvSpPr>
          <p:cNvPr id="24" name="Text 17"/>
          <p:cNvSpPr/>
          <p:nvPr/>
        </p:nvSpPr>
        <p:spPr>
          <a:xfrm>
            <a:off x="1405414" y="6529784"/>
            <a:ext cx="1891546" cy="210145"/>
          </a:xfrm>
          <a:prstGeom prst="rect">
            <a:avLst/>
          </a:prstGeom>
          <a:noFill/>
          <a:ln/>
        </p:spPr>
        <p:txBody>
          <a:bodyPr wrap="none" lIns="0" tIns="0" rIns="0" bIns="0" rtlCol="0" anchor="t"/>
          <a:lstStyle/>
          <a:p>
            <a:pPr marL="0" indent="0" algn="l">
              <a:lnSpc>
                <a:spcPts val="1650"/>
              </a:lnSpc>
              <a:buNone/>
            </a:pPr>
            <a:r>
              <a:rPr lang="en-US" b="1" dirty="0">
                <a:solidFill>
                  <a:srgbClr val="3D3838"/>
                </a:solidFill>
                <a:latin typeface="Times New Roman" panose="02020603050405020304" pitchFamily="18" charset="0"/>
                <a:ea typeface="Montserrat Bold" pitchFamily="34" charset="-122"/>
                <a:cs typeface="Times New Roman" panose="02020603050405020304" pitchFamily="18" charset="0"/>
              </a:rPr>
              <a:t>Scalable Architecture</a:t>
            </a:r>
            <a:endParaRPr lang="en-US" dirty="0">
              <a:latin typeface="Times New Roman" panose="02020603050405020304" pitchFamily="18" charset="0"/>
              <a:cs typeface="Times New Roman" panose="02020603050405020304" pitchFamily="18" charset="0"/>
            </a:endParaRPr>
          </a:p>
        </p:txBody>
      </p:sp>
      <p:sp>
        <p:nvSpPr>
          <p:cNvPr id="25" name="Text 18"/>
          <p:cNvSpPr/>
          <p:nvPr/>
        </p:nvSpPr>
        <p:spPr>
          <a:xfrm>
            <a:off x="1405414" y="6828631"/>
            <a:ext cx="7220783" cy="221933"/>
          </a:xfrm>
          <a:prstGeom prst="rect">
            <a:avLst/>
          </a:prstGeom>
          <a:noFill/>
          <a:ln/>
        </p:spPr>
        <p:txBody>
          <a:bodyPr wrap="none" lIns="0" tIns="0" rIns="0" bIns="0" rtlCol="0" anchor="t"/>
          <a:lstStyle/>
          <a:p>
            <a:pPr marL="0" indent="0" algn="l">
              <a:lnSpc>
                <a:spcPts val="170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To handle growth and peak loads</a:t>
            </a:r>
            <a:endParaRPr lang="en-US" sz="1600" dirty="0">
              <a:latin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499DF0DF-60EC-686B-40B5-87B70E85D94F}"/>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3187" y="585192"/>
            <a:ext cx="7383899" cy="595074"/>
          </a:xfrm>
          <a:prstGeom prst="rect">
            <a:avLst/>
          </a:prstGeom>
          <a:noFill/>
          <a:ln/>
        </p:spPr>
        <p:txBody>
          <a:bodyPr wrap="none" lIns="0" tIns="0" rIns="0" bIns="0" rtlCol="0" anchor="t"/>
          <a:lstStyle/>
          <a:p>
            <a:pPr marL="0" indent="0" algn="l">
              <a:lnSpc>
                <a:spcPts val="4650"/>
              </a:lnSpc>
              <a:buNone/>
            </a:pPr>
            <a:r>
              <a:rPr lang="en-US" sz="3700" b="1" dirty="0">
                <a:solidFill>
                  <a:srgbClr val="000000"/>
                </a:solidFill>
                <a:latin typeface="Times New Roman" panose="02020603050405020304" pitchFamily="18" charset="0"/>
                <a:ea typeface="Montserrat Bold" pitchFamily="34" charset="-122"/>
                <a:cs typeface="Times New Roman" panose="02020603050405020304" pitchFamily="18" charset="0"/>
              </a:rPr>
              <a:t>High-Level Solution Overview</a:t>
            </a:r>
            <a:endParaRPr lang="en-US" sz="3700" dirty="0">
              <a:latin typeface="Times New Roman" panose="02020603050405020304" pitchFamily="18" charset="0"/>
              <a:cs typeface="Times New Roman" panose="02020603050405020304" pitchFamily="18" charset="0"/>
            </a:endParaRPr>
          </a:p>
        </p:txBody>
      </p:sp>
      <p:sp>
        <p:nvSpPr>
          <p:cNvPr id="3" name="Text 1"/>
          <p:cNvSpPr/>
          <p:nvPr/>
        </p:nvSpPr>
        <p:spPr>
          <a:xfrm>
            <a:off x="733187" y="1599248"/>
            <a:ext cx="13164026" cy="314325"/>
          </a:xfrm>
          <a:prstGeom prst="rect">
            <a:avLst/>
          </a:prstGeom>
          <a:noFill/>
          <a:ln/>
        </p:spPr>
        <p:txBody>
          <a:bodyPr wrap="non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Our end-to-end pipeline orchestrates real-time and batch processing to deliver comprehensive water utility management.</a:t>
            </a:r>
            <a:endParaRPr lang="en-US" sz="1600" dirty="0">
              <a:latin typeface="Times New Roman" panose="02020603050405020304" pitchFamily="18" charset="0"/>
              <a:cs typeface="Times New Roman" panose="02020603050405020304" pitchFamily="18" charset="0"/>
            </a:endParaRPr>
          </a:p>
        </p:txBody>
      </p:sp>
      <p:sp>
        <p:nvSpPr>
          <p:cNvPr id="4" name="Text 2"/>
          <p:cNvSpPr/>
          <p:nvPr/>
        </p:nvSpPr>
        <p:spPr>
          <a:xfrm>
            <a:off x="733187" y="2149197"/>
            <a:ext cx="209431" cy="261818"/>
          </a:xfrm>
          <a:prstGeom prst="rect">
            <a:avLst/>
          </a:prstGeom>
          <a:noFill/>
          <a:ln/>
        </p:spPr>
        <p:txBody>
          <a:bodyPr wrap="non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Montserrat Light" pitchFamily="34" charset="-122"/>
                <a:cs typeface="Times New Roman" panose="02020603050405020304" pitchFamily="18" charset="0"/>
              </a:rPr>
              <a:t>01</a:t>
            </a:r>
            <a:endParaRPr lang="en-US" sz="1600" dirty="0">
              <a:latin typeface="Times New Roman" panose="02020603050405020304" pitchFamily="18" charset="0"/>
              <a:cs typeface="Times New Roman" panose="02020603050405020304" pitchFamily="18" charset="0"/>
            </a:endParaRPr>
          </a:p>
        </p:txBody>
      </p:sp>
      <p:sp>
        <p:nvSpPr>
          <p:cNvPr id="5" name="Shape 3"/>
          <p:cNvSpPr/>
          <p:nvPr/>
        </p:nvSpPr>
        <p:spPr>
          <a:xfrm>
            <a:off x="733187" y="2482215"/>
            <a:ext cx="6477238" cy="22860"/>
          </a:xfrm>
          <a:prstGeom prst="rect">
            <a:avLst/>
          </a:prstGeom>
          <a:solidFill>
            <a:srgbClr val="2D2E34"/>
          </a:solidFill>
          <a:ln/>
        </p:spPr>
      </p:sp>
      <p:sp>
        <p:nvSpPr>
          <p:cNvPr id="6" name="Text 4"/>
          <p:cNvSpPr/>
          <p:nvPr/>
        </p:nvSpPr>
        <p:spPr>
          <a:xfrm>
            <a:off x="733187" y="2632591"/>
            <a:ext cx="2838926" cy="297418"/>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Meter Data Generation</a:t>
            </a:r>
            <a:endParaRPr lang="en-US" sz="1850" dirty="0">
              <a:latin typeface="Times New Roman" panose="02020603050405020304" pitchFamily="18" charset="0"/>
              <a:cs typeface="Times New Roman" panose="02020603050405020304" pitchFamily="18" charset="0"/>
            </a:endParaRPr>
          </a:p>
        </p:txBody>
      </p:sp>
      <p:sp>
        <p:nvSpPr>
          <p:cNvPr id="7" name="Text 5"/>
          <p:cNvSpPr/>
          <p:nvPr/>
        </p:nvSpPr>
        <p:spPr>
          <a:xfrm>
            <a:off x="733187" y="3055620"/>
            <a:ext cx="6477238" cy="628650"/>
          </a:xfrm>
          <a:prstGeom prst="rect">
            <a:avLst/>
          </a:prstGeom>
          <a:noFill/>
          <a:ln/>
        </p:spPr>
        <p:txBody>
          <a:bodyPr wrap="squar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Smart meters continuously generate consumption readings with metadata including pressure, status, and timestamps.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7419856" y="2149197"/>
            <a:ext cx="209431" cy="261818"/>
          </a:xfrm>
          <a:prstGeom prst="rect">
            <a:avLst/>
          </a:prstGeom>
          <a:noFill/>
          <a:ln/>
        </p:spPr>
        <p:txBody>
          <a:bodyPr wrap="non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Montserrat Light" pitchFamily="34" charset="-122"/>
                <a:cs typeface="Times New Roman" panose="02020603050405020304" pitchFamily="18" charset="0"/>
              </a:rPr>
              <a:t>02</a:t>
            </a:r>
            <a:endParaRPr lang="en-US" sz="1600" dirty="0">
              <a:latin typeface="Times New Roman" panose="02020603050405020304" pitchFamily="18" charset="0"/>
              <a:cs typeface="Times New Roman" panose="02020603050405020304" pitchFamily="18" charset="0"/>
            </a:endParaRPr>
          </a:p>
        </p:txBody>
      </p:sp>
      <p:sp>
        <p:nvSpPr>
          <p:cNvPr id="9" name="Shape 7"/>
          <p:cNvSpPr/>
          <p:nvPr/>
        </p:nvSpPr>
        <p:spPr>
          <a:xfrm>
            <a:off x="7419856" y="2482215"/>
            <a:ext cx="6477357" cy="22860"/>
          </a:xfrm>
          <a:prstGeom prst="rect">
            <a:avLst/>
          </a:prstGeom>
          <a:solidFill>
            <a:srgbClr val="2D2E34"/>
          </a:solidFill>
          <a:ln/>
        </p:spPr>
      </p:sp>
      <p:sp>
        <p:nvSpPr>
          <p:cNvPr id="10" name="Text 8"/>
          <p:cNvSpPr/>
          <p:nvPr/>
        </p:nvSpPr>
        <p:spPr>
          <a:xfrm>
            <a:off x="7419856" y="2632591"/>
            <a:ext cx="2380536" cy="297418"/>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Event Ingestion</a:t>
            </a:r>
            <a:endParaRPr lang="en-US" sz="1850" dirty="0">
              <a:latin typeface="Times New Roman" panose="02020603050405020304" pitchFamily="18" charset="0"/>
              <a:cs typeface="Times New Roman" panose="02020603050405020304" pitchFamily="18" charset="0"/>
            </a:endParaRPr>
          </a:p>
        </p:txBody>
      </p:sp>
      <p:sp>
        <p:nvSpPr>
          <p:cNvPr id="11" name="Text 9"/>
          <p:cNvSpPr/>
          <p:nvPr/>
        </p:nvSpPr>
        <p:spPr>
          <a:xfrm>
            <a:off x="7419856" y="3055620"/>
            <a:ext cx="6477357" cy="628650"/>
          </a:xfrm>
          <a:prstGeom prst="rect">
            <a:avLst/>
          </a:prstGeom>
          <a:noFill/>
          <a:ln/>
        </p:spPr>
        <p:txBody>
          <a:bodyPr wrap="squar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Kafka acts as the central event bus, ingesting high-velocity meter readings with guaranteed delivery and fault tolerance.</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733187" y="4050744"/>
            <a:ext cx="209431" cy="261818"/>
          </a:xfrm>
          <a:prstGeom prst="rect">
            <a:avLst/>
          </a:prstGeom>
          <a:noFill/>
          <a:ln/>
        </p:spPr>
        <p:txBody>
          <a:bodyPr wrap="non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Montserrat Light" pitchFamily="34" charset="-122"/>
                <a:cs typeface="Times New Roman" panose="02020603050405020304" pitchFamily="18" charset="0"/>
              </a:rPr>
              <a:t>03</a:t>
            </a:r>
            <a:endParaRPr lang="en-US" sz="1600" dirty="0">
              <a:latin typeface="Times New Roman" panose="02020603050405020304" pitchFamily="18" charset="0"/>
              <a:cs typeface="Times New Roman" panose="02020603050405020304" pitchFamily="18" charset="0"/>
            </a:endParaRPr>
          </a:p>
        </p:txBody>
      </p:sp>
      <p:sp>
        <p:nvSpPr>
          <p:cNvPr id="13" name="Shape 11"/>
          <p:cNvSpPr/>
          <p:nvPr/>
        </p:nvSpPr>
        <p:spPr>
          <a:xfrm>
            <a:off x="733187" y="4383762"/>
            <a:ext cx="6477238" cy="22860"/>
          </a:xfrm>
          <a:prstGeom prst="rect">
            <a:avLst/>
          </a:prstGeom>
          <a:solidFill>
            <a:srgbClr val="2D2E34"/>
          </a:solidFill>
          <a:ln/>
        </p:spPr>
      </p:sp>
      <p:sp>
        <p:nvSpPr>
          <p:cNvPr id="14" name="Text 12"/>
          <p:cNvSpPr/>
          <p:nvPr/>
        </p:nvSpPr>
        <p:spPr>
          <a:xfrm>
            <a:off x="733187" y="4534138"/>
            <a:ext cx="3785949" cy="297418"/>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Streaming Anomaly Detection</a:t>
            </a:r>
            <a:endParaRPr lang="en-US" sz="1850" dirty="0">
              <a:latin typeface="Times New Roman" panose="02020603050405020304" pitchFamily="18" charset="0"/>
              <a:cs typeface="Times New Roman" panose="02020603050405020304" pitchFamily="18" charset="0"/>
            </a:endParaRPr>
          </a:p>
        </p:txBody>
      </p:sp>
      <p:sp>
        <p:nvSpPr>
          <p:cNvPr id="15" name="Text 13"/>
          <p:cNvSpPr/>
          <p:nvPr/>
        </p:nvSpPr>
        <p:spPr>
          <a:xfrm>
            <a:off x="733187" y="4957167"/>
            <a:ext cx="6477238" cy="628650"/>
          </a:xfrm>
          <a:prstGeom prst="rect">
            <a:avLst/>
          </a:prstGeom>
          <a:noFill/>
          <a:ln/>
        </p:spPr>
        <p:txBody>
          <a:bodyPr wrap="squar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Spark Streaming analyzes consumption patterns in real-time, triggering alerts for abnormal spikes or drops.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7419856" y="4050744"/>
            <a:ext cx="209431" cy="261818"/>
          </a:xfrm>
          <a:prstGeom prst="rect">
            <a:avLst/>
          </a:prstGeom>
          <a:noFill/>
          <a:ln/>
        </p:spPr>
        <p:txBody>
          <a:bodyPr wrap="non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Montserrat Light" pitchFamily="34" charset="-122"/>
                <a:cs typeface="Times New Roman" panose="02020603050405020304" pitchFamily="18" charset="0"/>
              </a:rPr>
              <a:t>04</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7419856" y="4383762"/>
            <a:ext cx="6477357" cy="22860"/>
          </a:xfrm>
          <a:prstGeom prst="rect">
            <a:avLst/>
          </a:prstGeom>
          <a:solidFill>
            <a:srgbClr val="2D2E34"/>
          </a:solidFill>
          <a:ln/>
        </p:spPr>
      </p:sp>
      <p:sp>
        <p:nvSpPr>
          <p:cNvPr id="18" name="Text 16"/>
          <p:cNvSpPr/>
          <p:nvPr/>
        </p:nvSpPr>
        <p:spPr>
          <a:xfrm>
            <a:off x="7419856" y="4534138"/>
            <a:ext cx="2380536" cy="297418"/>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Multi-Tier Storage</a:t>
            </a:r>
            <a:endParaRPr lang="en-US" sz="1850" dirty="0">
              <a:latin typeface="Times New Roman" panose="02020603050405020304" pitchFamily="18" charset="0"/>
              <a:cs typeface="Times New Roman" panose="02020603050405020304" pitchFamily="18" charset="0"/>
            </a:endParaRPr>
          </a:p>
        </p:txBody>
      </p:sp>
      <p:sp>
        <p:nvSpPr>
          <p:cNvPr id="19" name="Text 17"/>
          <p:cNvSpPr/>
          <p:nvPr/>
        </p:nvSpPr>
        <p:spPr>
          <a:xfrm>
            <a:off x="7419856" y="4957167"/>
            <a:ext cx="6477357" cy="628650"/>
          </a:xfrm>
          <a:prstGeom prst="rect">
            <a:avLst/>
          </a:prstGeom>
          <a:noFill/>
          <a:ln/>
        </p:spPr>
        <p:txBody>
          <a:bodyPr wrap="squar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Recent data stored as JSON for fast API access; historical data archived in compressed Avro format on S3.</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733187" y="5952292"/>
            <a:ext cx="209431" cy="261818"/>
          </a:xfrm>
          <a:prstGeom prst="rect">
            <a:avLst/>
          </a:prstGeom>
          <a:noFill/>
          <a:ln/>
        </p:spPr>
        <p:txBody>
          <a:bodyPr wrap="non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Montserrat Light" pitchFamily="34" charset="-122"/>
                <a:cs typeface="Times New Roman" panose="02020603050405020304" pitchFamily="18" charset="0"/>
              </a:rPr>
              <a:t>05</a:t>
            </a:r>
            <a:endParaRPr lang="en-US" sz="1600" dirty="0">
              <a:latin typeface="Times New Roman" panose="02020603050405020304" pitchFamily="18" charset="0"/>
              <a:cs typeface="Times New Roman" panose="02020603050405020304" pitchFamily="18" charset="0"/>
            </a:endParaRPr>
          </a:p>
        </p:txBody>
      </p:sp>
      <p:sp>
        <p:nvSpPr>
          <p:cNvPr id="21" name="Shape 19"/>
          <p:cNvSpPr/>
          <p:nvPr/>
        </p:nvSpPr>
        <p:spPr>
          <a:xfrm>
            <a:off x="733187" y="6285309"/>
            <a:ext cx="6477238" cy="22860"/>
          </a:xfrm>
          <a:prstGeom prst="rect">
            <a:avLst/>
          </a:prstGeom>
          <a:solidFill>
            <a:srgbClr val="2D2E34"/>
          </a:solidFill>
          <a:ln/>
        </p:spPr>
      </p:sp>
      <p:sp>
        <p:nvSpPr>
          <p:cNvPr id="22" name="Text 20"/>
          <p:cNvSpPr/>
          <p:nvPr/>
        </p:nvSpPr>
        <p:spPr>
          <a:xfrm>
            <a:off x="733187" y="6435685"/>
            <a:ext cx="3167182" cy="297418"/>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Batch Billing &amp; Reporting</a:t>
            </a:r>
            <a:endParaRPr lang="en-US" sz="1850" dirty="0">
              <a:latin typeface="Times New Roman" panose="02020603050405020304" pitchFamily="18" charset="0"/>
              <a:cs typeface="Times New Roman" panose="02020603050405020304" pitchFamily="18" charset="0"/>
            </a:endParaRPr>
          </a:p>
        </p:txBody>
      </p:sp>
      <p:sp>
        <p:nvSpPr>
          <p:cNvPr id="23" name="Text 21"/>
          <p:cNvSpPr/>
          <p:nvPr/>
        </p:nvSpPr>
        <p:spPr>
          <a:xfrm>
            <a:off x="733187" y="6858714"/>
            <a:ext cx="6477238" cy="628650"/>
          </a:xfrm>
          <a:prstGeom prst="rect">
            <a:avLst/>
          </a:prstGeom>
          <a:noFill/>
          <a:ln/>
        </p:spPr>
        <p:txBody>
          <a:bodyPr wrap="squar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Spark Batch jobs aggregate consumption data to generate monthly bills and comprehensive usage reports.</a:t>
            </a:r>
            <a:endParaRPr lang="en-US" sz="1600" dirty="0">
              <a:latin typeface="Times New Roman" panose="02020603050405020304" pitchFamily="18" charset="0"/>
              <a:cs typeface="Times New Roman" panose="02020603050405020304" pitchFamily="18" charset="0"/>
            </a:endParaRPr>
          </a:p>
        </p:txBody>
      </p:sp>
      <p:sp>
        <p:nvSpPr>
          <p:cNvPr id="24" name="Text 22"/>
          <p:cNvSpPr/>
          <p:nvPr/>
        </p:nvSpPr>
        <p:spPr>
          <a:xfrm>
            <a:off x="7419856" y="5952292"/>
            <a:ext cx="209431" cy="261818"/>
          </a:xfrm>
          <a:prstGeom prst="rect">
            <a:avLst/>
          </a:prstGeom>
          <a:noFill/>
          <a:ln/>
        </p:spPr>
        <p:txBody>
          <a:bodyPr wrap="non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Montserrat Light" pitchFamily="34" charset="-122"/>
                <a:cs typeface="Times New Roman" panose="02020603050405020304" pitchFamily="18" charset="0"/>
              </a:rPr>
              <a:t>06</a:t>
            </a:r>
            <a:endParaRPr lang="en-US" sz="1600" dirty="0">
              <a:latin typeface="Times New Roman" panose="02020603050405020304" pitchFamily="18" charset="0"/>
              <a:cs typeface="Times New Roman" panose="02020603050405020304" pitchFamily="18" charset="0"/>
            </a:endParaRPr>
          </a:p>
        </p:txBody>
      </p:sp>
      <p:sp>
        <p:nvSpPr>
          <p:cNvPr id="25" name="Shape 23"/>
          <p:cNvSpPr/>
          <p:nvPr/>
        </p:nvSpPr>
        <p:spPr>
          <a:xfrm>
            <a:off x="7419856" y="6285309"/>
            <a:ext cx="6477357" cy="22860"/>
          </a:xfrm>
          <a:prstGeom prst="rect">
            <a:avLst/>
          </a:prstGeom>
          <a:solidFill>
            <a:srgbClr val="2D2E34"/>
          </a:solidFill>
          <a:ln/>
        </p:spPr>
      </p:sp>
      <p:sp>
        <p:nvSpPr>
          <p:cNvPr id="26" name="Text 24"/>
          <p:cNvSpPr/>
          <p:nvPr/>
        </p:nvSpPr>
        <p:spPr>
          <a:xfrm>
            <a:off x="7419856" y="6435685"/>
            <a:ext cx="2380536" cy="297418"/>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API Data Exposure</a:t>
            </a:r>
            <a:endParaRPr lang="en-US" sz="1850" dirty="0">
              <a:latin typeface="Times New Roman" panose="02020603050405020304" pitchFamily="18" charset="0"/>
              <a:cs typeface="Times New Roman" panose="02020603050405020304" pitchFamily="18" charset="0"/>
            </a:endParaRPr>
          </a:p>
        </p:txBody>
      </p:sp>
      <p:sp>
        <p:nvSpPr>
          <p:cNvPr id="27" name="Text 25"/>
          <p:cNvSpPr/>
          <p:nvPr/>
        </p:nvSpPr>
        <p:spPr>
          <a:xfrm>
            <a:off x="7419856" y="6858714"/>
            <a:ext cx="6477357" cy="628650"/>
          </a:xfrm>
          <a:prstGeom prst="rect">
            <a:avLst/>
          </a:prstGeom>
          <a:noFill/>
          <a:ln/>
        </p:spPr>
        <p:txBody>
          <a:bodyPr wrap="square" lIns="0" tIns="0" rIns="0" bIns="0" rtlCol="0" anchor="t"/>
          <a:lstStyle/>
          <a:p>
            <a:pPr marL="0" indent="0" algn="l">
              <a:lnSpc>
                <a:spcPts val="2450"/>
              </a:lnSpc>
              <a:buNone/>
            </a:pPr>
            <a:r>
              <a:rPr lang="en-US" sz="1600" dirty="0">
                <a:solidFill>
                  <a:srgbClr val="3D3838"/>
                </a:solidFill>
                <a:latin typeface="Times New Roman" panose="02020603050405020304" pitchFamily="18" charset="0"/>
                <a:ea typeface="Source Sans 3" pitchFamily="34" charset="-122"/>
                <a:cs typeface="Times New Roman" panose="02020603050405020304" pitchFamily="18" charset="0"/>
              </a:rPr>
              <a:t>Play Framework provides reactive REST APIs for seamless integration with customer portals and utility systems.</a:t>
            </a:r>
            <a:endParaRPr lang="en-US" sz="1600" dirty="0">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89FA0AD2-7BF8-4868-0570-104B2CB795A0}"/>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A610C-17BC-410A-F15B-4B7DA14C764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858A96D-CF63-4FF7-59F0-BDFCB610EFA2}"/>
              </a:ext>
            </a:extLst>
          </p:cNvPr>
          <p:cNvSpPr/>
          <p:nvPr/>
        </p:nvSpPr>
        <p:spPr>
          <a:xfrm>
            <a:off x="762833" y="555467"/>
            <a:ext cx="5526643" cy="643890"/>
          </a:xfrm>
          <a:prstGeom prst="rect">
            <a:avLst/>
          </a:prstGeom>
          <a:noFill/>
          <a:ln/>
        </p:spPr>
        <p:txBody>
          <a:bodyPr wrap="none" lIns="0" tIns="0" rIns="0" bIns="0" rtlCol="0" anchor="t"/>
          <a:lstStyle/>
          <a:p>
            <a:pPr marL="0" indent="0" algn="l">
              <a:lnSpc>
                <a:spcPts val="5050"/>
              </a:lnSpc>
              <a:buNone/>
            </a:pPr>
            <a:r>
              <a:rPr lang="en-US" sz="4050" b="1" dirty="0">
                <a:solidFill>
                  <a:srgbClr val="000000"/>
                </a:solidFill>
                <a:latin typeface="Times New Roman" panose="02020603050405020304" pitchFamily="18" charset="0"/>
                <a:ea typeface="Montserrat Bold" pitchFamily="34" charset="-122"/>
                <a:cs typeface="Times New Roman" panose="02020603050405020304" pitchFamily="18" charset="0"/>
              </a:rPr>
              <a:t>System Architecture</a:t>
            </a:r>
            <a:endParaRPr lang="en-US" sz="4050" dirty="0">
              <a:latin typeface="Times New Roman" panose="02020603050405020304" pitchFamily="18" charset="0"/>
              <a:cs typeface="Times New Roman" panose="02020603050405020304" pitchFamily="18" charset="0"/>
            </a:endParaRPr>
          </a:p>
        </p:txBody>
      </p:sp>
      <p:sp>
        <p:nvSpPr>
          <p:cNvPr id="3" name="Shape 1">
            <a:extLst>
              <a:ext uri="{FF2B5EF4-FFF2-40B4-BE49-F238E27FC236}">
                <a16:creationId xmlns:a16="http://schemas.microsoft.com/office/drawing/2014/main" id="{7BC570A9-95CB-9B65-1E69-A918AD00EECD}"/>
              </a:ext>
            </a:extLst>
          </p:cNvPr>
          <p:cNvSpPr/>
          <p:nvPr/>
        </p:nvSpPr>
        <p:spPr>
          <a:xfrm>
            <a:off x="793313" y="2056686"/>
            <a:ext cx="4196834" cy="2654379"/>
          </a:xfrm>
          <a:prstGeom prst="roundRect">
            <a:avLst>
              <a:gd name="adj" fmla="val 5512"/>
            </a:avLst>
          </a:prstGeom>
          <a:solidFill>
            <a:srgbClr val="FFFFFF"/>
          </a:solidFill>
          <a:ln w="30480">
            <a:solidFill>
              <a:srgbClr val="2D2E34"/>
            </a:solidFill>
            <a:prstDash val="solid"/>
          </a:ln>
        </p:spPr>
      </p:sp>
      <p:sp>
        <p:nvSpPr>
          <p:cNvPr id="4" name="Shape 2">
            <a:extLst>
              <a:ext uri="{FF2B5EF4-FFF2-40B4-BE49-F238E27FC236}">
                <a16:creationId xmlns:a16="http://schemas.microsoft.com/office/drawing/2014/main" id="{36CDE7C0-27CD-8D3A-CD3A-5F28A8B9D735}"/>
              </a:ext>
            </a:extLst>
          </p:cNvPr>
          <p:cNvSpPr/>
          <p:nvPr/>
        </p:nvSpPr>
        <p:spPr>
          <a:xfrm>
            <a:off x="762833" y="2056686"/>
            <a:ext cx="121920" cy="2654379"/>
          </a:xfrm>
          <a:prstGeom prst="roundRect">
            <a:avLst>
              <a:gd name="adj" fmla="val 27889"/>
            </a:avLst>
          </a:prstGeom>
          <a:solidFill>
            <a:srgbClr val="2D2E34"/>
          </a:solidFill>
          <a:ln/>
        </p:spPr>
      </p:sp>
      <p:sp>
        <p:nvSpPr>
          <p:cNvPr id="5" name="Text 3">
            <a:extLst>
              <a:ext uri="{FF2B5EF4-FFF2-40B4-BE49-F238E27FC236}">
                <a16:creationId xmlns:a16="http://schemas.microsoft.com/office/drawing/2014/main" id="{55735E92-D9AD-B733-99BA-1F658A9FD782}"/>
              </a:ext>
            </a:extLst>
          </p:cNvPr>
          <p:cNvSpPr/>
          <p:nvPr/>
        </p:nvSpPr>
        <p:spPr>
          <a:xfrm>
            <a:off x="1141809" y="2313742"/>
            <a:ext cx="3261122" cy="322064"/>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Device Simulation Layer</a:t>
            </a:r>
            <a:endParaRPr lang="en-US" sz="200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A0B1D422-A270-8869-C9DE-687B9564BD87}"/>
              </a:ext>
            </a:extLst>
          </p:cNvPr>
          <p:cNvSpPr/>
          <p:nvPr/>
        </p:nvSpPr>
        <p:spPr>
          <a:xfrm>
            <a:off x="1141809" y="2771775"/>
            <a:ext cx="3591282" cy="1360170"/>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Akka actors simulate thousands of smart meters generating realistic consumption patterns and anomaly scenarios for testing.</a:t>
            </a:r>
            <a:endParaRPr lang="en-US" sz="1750" dirty="0">
              <a:latin typeface="Times New Roman" panose="02020603050405020304" pitchFamily="18" charset="0"/>
              <a:cs typeface="Times New Roman" panose="02020603050405020304" pitchFamily="18" charset="0"/>
            </a:endParaRPr>
          </a:p>
        </p:txBody>
      </p:sp>
      <p:sp>
        <p:nvSpPr>
          <p:cNvPr id="7" name="Shape 5">
            <a:extLst>
              <a:ext uri="{FF2B5EF4-FFF2-40B4-BE49-F238E27FC236}">
                <a16:creationId xmlns:a16="http://schemas.microsoft.com/office/drawing/2014/main" id="{0217EF6B-5C86-7450-205B-84BBF56DFD1F}"/>
              </a:ext>
            </a:extLst>
          </p:cNvPr>
          <p:cNvSpPr/>
          <p:nvPr/>
        </p:nvSpPr>
        <p:spPr>
          <a:xfrm>
            <a:off x="5216723" y="2056686"/>
            <a:ext cx="4196834" cy="2654379"/>
          </a:xfrm>
          <a:prstGeom prst="roundRect">
            <a:avLst>
              <a:gd name="adj" fmla="val 5512"/>
            </a:avLst>
          </a:prstGeom>
          <a:solidFill>
            <a:srgbClr val="FFFFFF"/>
          </a:solidFill>
          <a:ln w="30480">
            <a:solidFill>
              <a:srgbClr val="2D2E34"/>
            </a:solidFill>
            <a:prstDash val="solid"/>
          </a:ln>
        </p:spPr>
      </p:sp>
      <p:sp>
        <p:nvSpPr>
          <p:cNvPr id="8" name="Shape 6">
            <a:extLst>
              <a:ext uri="{FF2B5EF4-FFF2-40B4-BE49-F238E27FC236}">
                <a16:creationId xmlns:a16="http://schemas.microsoft.com/office/drawing/2014/main" id="{03AAE535-983A-9116-CEB4-31D78CA5D807}"/>
              </a:ext>
            </a:extLst>
          </p:cNvPr>
          <p:cNvSpPr/>
          <p:nvPr/>
        </p:nvSpPr>
        <p:spPr>
          <a:xfrm>
            <a:off x="5186243" y="2056686"/>
            <a:ext cx="121920" cy="2654379"/>
          </a:xfrm>
          <a:prstGeom prst="roundRect">
            <a:avLst>
              <a:gd name="adj" fmla="val 27889"/>
            </a:avLst>
          </a:prstGeom>
          <a:solidFill>
            <a:srgbClr val="2D2E34"/>
          </a:solidFill>
          <a:ln/>
        </p:spPr>
      </p:sp>
      <p:sp>
        <p:nvSpPr>
          <p:cNvPr id="9" name="Text 7">
            <a:extLst>
              <a:ext uri="{FF2B5EF4-FFF2-40B4-BE49-F238E27FC236}">
                <a16:creationId xmlns:a16="http://schemas.microsoft.com/office/drawing/2014/main" id="{2D61ED2F-3440-7D94-E1CC-49BFDE95258D}"/>
              </a:ext>
            </a:extLst>
          </p:cNvPr>
          <p:cNvSpPr/>
          <p:nvPr/>
        </p:nvSpPr>
        <p:spPr>
          <a:xfrm>
            <a:off x="5565219" y="2313742"/>
            <a:ext cx="3591282" cy="644128"/>
          </a:xfrm>
          <a:prstGeom prst="rect">
            <a:avLst/>
          </a:prstGeom>
          <a:noFill/>
          <a:ln/>
        </p:spPr>
        <p:txBody>
          <a:bodyPr wrap="squar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Streaming Processing Layer</a:t>
            </a:r>
            <a:endParaRPr lang="en-US" sz="2000"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834D33A7-2EB6-BCDB-191E-809E2185A393}"/>
              </a:ext>
            </a:extLst>
          </p:cNvPr>
          <p:cNvSpPr/>
          <p:nvPr/>
        </p:nvSpPr>
        <p:spPr>
          <a:xfrm>
            <a:off x="5525015" y="2776974"/>
            <a:ext cx="3591282" cy="1360170"/>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Kafka topics partition meter events, while Spark Streaming applies windowing and stateful operations for anomaly detection.</a:t>
            </a:r>
            <a:endParaRPr lang="en-US" sz="175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7137D936-168A-B535-3E72-CF8F9B3F4701}"/>
              </a:ext>
            </a:extLst>
          </p:cNvPr>
          <p:cNvSpPr/>
          <p:nvPr/>
        </p:nvSpPr>
        <p:spPr>
          <a:xfrm>
            <a:off x="9640133" y="2056686"/>
            <a:ext cx="4196953" cy="2654379"/>
          </a:xfrm>
          <a:prstGeom prst="roundRect">
            <a:avLst>
              <a:gd name="adj" fmla="val 5512"/>
            </a:avLst>
          </a:prstGeom>
          <a:solidFill>
            <a:srgbClr val="FFFFFF"/>
          </a:solidFill>
          <a:ln w="30480">
            <a:solidFill>
              <a:srgbClr val="2D2E34"/>
            </a:solidFill>
            <a:prstDash val="solid"/>
          </a:ln>
        </p:spPr>
      </p:sp>
      <p:sp>
        <p:nvSpPr>
          <p:cNvPr id="12" name="Shape 10">
            <a:extLst>
              <a:ext uri="{FF2B5EF4-FFF2-40B4-BE49-F238E27FC236}">
                <a16:creationId xmlns:a16="http://schemas.microsoft.com/office/drawing/2014/main" id="{26EB530D-B133-D127-595C-FDA7675050E5}"/>
              </a:ext>
            </a:extLst>
          </p:cNvPr>
          <p:cNvSpPr/>
          <p:nvPr/>
        </p:nvSpPr>
        <p:spPr>
          <a:xfrm>
            <a:off x="9609653" y="2056686"/>
            <a:ext cx="121920" cy="2654379"/>
          </a:xfrm>
          <a:prstGeom prst="roundRect">
            <a:avLst>
              <a:gd name="adj" fmla="val 27889"/>
            </a:avLst>
          </a:prstGeom>
          <a:solidFill>
            <a:srgbClr val="2D2E34"/>
          </a:solidFill>
          <a:ln/>
        </p:spPr>
      </p:sp>
      <p:sp>
        <p:nvSpPr>
          <p:cNvPr id="13" name="Text 11">
            <a:extLst>
              <a:ext uri="{FF2B5EF4-FFF2-40B4-BE49-F238E27FC236}">
                <a16:creationId xmlns:a16="http://schemas.microsoft.com/office/drawing/2014/main" id="{AAD07081-0DED-6391-67CD-195C1AD44C11}"/>
              </a:ext>
            </a:extLst>
          </p:cNvPr>
          <p:cNvSpPr/>
          <p:nvPr/>
        </p:nvSpPr>
        <p:spPr>
          <a:xfrm>
            <a:off x="9988629" y="2313742"/>
            <a:ext cx="2920960" cy="322064"/>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Batch Analytics Layer</a:t>
            </a:r>
            <a:endParaRPr lang="en-US" sz="2000" dirty="0">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1B7114F3-215F-C98E-A49A-AAE525FCEEA5}"/>
              </a:ext>
            </a:extLst>
          </p:cNvPr>
          <p:cNvSpPr/>
          <p:nvPr/>
        </p:nvSpPr>
        <p:spPr>
          <a:xfrm>
            <a:off x="9988629" y="2771775"/>
            <a:ext cx="3591401" cy="1360170"/>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Scheduled Spark jobs perform aggregations, join with customer data in MySQL, and generate billing statements.</a:t>
            </a:r>
            <a:endParaRPr lang="en-US" sz="1750" dirty="0">
              <a:latin typeface="Times New Roman" panose="02020603050405020304" pitchFamily="18" charset="0"/>
              <a:cs typeface="Times New Roman" panose="02020603050405020304" pitchFamily="18" charset="0"/>
            </a:endParaRPr>
          </a:p>
        </p:txBody>
      </p:sp>
      <p:sp>
        <p:nvSpPr>
          <p:cNvPr id="15" name="Shape 13">
            <a:extLst>
              <a:ext uri="{FF2B5EF4-FFF2-40B4-BE49-F238E27FC236}">
                <a16:creationId xmlns:a16="http://schemas.microsoft.com/office/drawing/2014/main" id="{ACF7DD12-04C3-C3B7-624F-329C9906F63B}"/>
              </a:ext>
            </a:extLst>
          </p:cNvPr>
          <p:cNvSpPr/>
          <p:nvPr/>
        </p:nvSpPr>
        <p:spPr>
          <a:xfrm>
            <a:off x="793313" y="4937641"/>
            <a:ext cx="4196834" cy="2332315"/>
          </a:xfrm>
          <a:prstGeom prst="roundRect">
            <a:avLst>
              <a:gd name="adj" fmla="val 6273"/>
            </a:avLst>
          </a:prstGeom>
          <a:solidFill>
            <a:srgbClr val="FFFFFF"/>
          </a:solidFill>
          <a:ln w="30480">
            <a:solidFill>
              <a:srgbClr val="2D2E34"/>
            </a:solidFill>
            <a:prstDash val="solid"/>
          </a:ln>
        </p:spPr>
      </p:sp>
      <p:sp>
        <p:nvSpPr>
          <p:cNvPr id="16" name="Shape 14">
            <a:extLst>
              <a:ext uri="{FF2B5EF4-FFF2-40B4-BE49-F238E27FC236}">
                <a16:creationId xmlns:a16="http://schemas.microsoft.com/office/drawing/2014/main" id="{9F86EFEC-7A98-D68C-D0BA-85CDB18C5F0F}"/>
              </a:ext>
            </a:extLst>
          </p:cNvPr>
          <p:cNvSpPr/>
          <p:nvPr/>
        </p:nvSpPr>
        <p:spPr>
          <a:xfrm>
            <a:off x="762833" y="4937641"/>
            <a:ext cx="121920" cy="2332315"/>
          </a:xfrm>
          <a:prstGeom prst="roundRect">
            <a:avLst>
              <a:gd name="adj" fmla="val 27889"/>
            </a:avLst>
          </a:prstGeom>
          <a:solidFill>
            <a:srgbClr val="2D2E34"/>
          </a:solidFill>
          <a:ln/>
        </p:spPr>
      </p:sp>
      <p:sp>
        <p:nvSpPr>
          <p:cNvPr id="17" name="Text 15">
            <a:extLst>
              <a:ext uri="{FF2B5EF4-FFF2-40B4-BE49-F238E27FC236}">
                <a16:creationId xmlns:a16="http://schemas.microsoft.com/office/drawing/2014/main" id="{F8EF8B99-D58E-0A60-CB4B-EBAA923B948F}"/>
              </a:ext>
            </a:extLst>
          </p:cNvPr>
          <p:cNvSpPr/>
          <p:nvPr/>
        </p:nvSpPr>
        <p:spPr>
          <a:xfrm>
            <a:off x="1141809" y="5194697"/>
            <a:ext cx="3539014" cy="322064"/>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Storage Layer (Hot &amp; Cold)</a:t>
            </a:r>
            <a:endParaRPr lang="en-US" sz="2000" dirty="0">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DAC4E083-BF18-71C7-CD72-CBBDD4E1DDBF}"/>
              </a:ext>
            </a:extLst>
          </p:cNvPr>
          <p:cNvSpPr/>
          <p:nvPr/>
        </p:nvSpPr>
        <p:spPr>
          <a:xfrm>
            <a:off x="1141809" y="5652730"/>
            <a:ext cx="3591282" cy="1360170"/>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JSON files provide millisecond access to recent data; Avro on S3 offers cost-effective, compressed long-term storage.</a:t>
            </a:r>
            <a:endParaRPr lang="en-US" sz="1750" dirty="0">
              <a:latin typeface="Times New Roman" panose="02020603050405020304" pitchFamily="18" charset="0"/>
              <a:cs typeface="Times New Roman" panose="02020603050405020304" pitchFamily="18" charset="0"/>
            </a:endParaRPr>
          </a:p>
        </p:txBody>
      </p:sp>
      <p:sp>
        <p:nvSpPr>
          <p:cNvPr id="19" name="Shape 17">
            <a:extLst>
              <a:ext uri="{FF2B5EF4-FFF2-40B4-BE49-F238E27FC236}">
                <a16:creationId xmlns:a16="http://schemas.microsoft.com/office/drawing/2014/main" id="{43624FF4-EFB7-FB8C-2183-5DB2CA4BA402}"/>
              </a:ext>
            </a:extLst>
          </p:cNvPr>
          <p:cNvSpPr/>
          <p:nvPr/>
        </p:nvSpPr>
        <p:spPr>
          <a:xfrm>
            <a:off x="5216723" y="4937641"/>
            <a:ext cx="4196834" cy="2332315"/>
          </a:xfrm>
          <a:prstGeom prst="roundRect">
            <a:avLst>
              <a:gd name="adj" fmla="val 6273"/>
            </a:avLst>
          </a:prstGeom>
          <a:solidFill>
            <a:srgbClr val="FFFFFF"/>
          </a:solidFill>
          <a:ln w="30480">
            <a:solidFill>
              <a:srgbClr val="2D2E34"/>
            </a:solidFill>
            <a:prstDash val="solid"/>
          </a:ln>
        </p:spPr>
      </p:sp>
      <p:sp>
        <p:nvSpPr>
          <p:cNvPr id="20" name="Shape 18">
            <a:extLst>
              <a:ext uri="{FF2B5EF4-FFF2-40B4-BE49-F238E27FC236}">
                <a16:creationId xmlns:a16="http://schemas.microsoft.com/office/drawing/2014/main" id="{ABAF51CB-DABC-D803-337B-3FAB6265359B}"/>
              </a:ext>
            </a:extLst>
          </p:cNvPr>
          <p:cNvSpPr/>
          <p:nvPr/>
        </p:nvSpPr>
        <p:spPr>
          <a:xfrm>
            <a:off x="5186243" y="4937641"/>
            <a:ext cx="121920" cy="2332315"/>
          </a:xfrm>
          <a:prstGeom prst="roundRect">
            <a:avLst>
              <a:gd name="adj" fmla="val 27889"/>
            </a:avLst>
          </a:prstGeom>
          <a:solidFill>
            <a:srgbClr val="2D2E34"/>
          </a:solidFill>
          <a:ln/>
        </p:spPr>
      </p:sp>
      <p:sp>
        <p:nvSpPr>
          <p:cNvPr id="21" name="Text 19">
            <a:extLst>
              <a:ext uri="{FF2B5EF4-FFF2-40B4-BE49-F238E27FC236}">
                <a16:creationId xmlns:a16="http://schemas.microsoft.com/office/drawing/2014/main" id="{5636575F-1193-D1E4-AEFC-215E29942923}"/>
              </a:ext>
            </a:extLst>
          </p:cNvPr>
          <p:cNvSpPr/>
          <p:nvPr/>
        </p:nvSpPr>
        <p:spPr>
          <a:xfrm>
            <a:off x="5565219" y="5194697"/>
            <a:ext cx="2575917" cy="322064"/>
          </a:xfrm>
          <a:prstGeom prst="rect">
            <a:avLst/>
          </a:prstGeom>
          <a:noFill/>
          <a:ln/>
        </p:spPr>
        <p:txBody>
          <a:bodyPr wrap="none" lIns="0" tIns="0" rIns="0" bIns="0" rtlCol="0" anchor="t"/>
          <a:lstStyle/>
          <a:p>
            <a:pPr marL="0" indent="0" algn="l">
              <a:lnSpc>
                <a:spcPts val="2500"/>
              </a:lnSpc>
              <a:buNone/>
            </a:pPr>
            <a:r>
              <a:rPr lang="en-US" sz="2000" b="1" dirty="0">
                <a:solidFill>
                  <a:srgbClr val="3D3838"/>
                </a:solidFill>
                <a:latin typeface="Times New Roman" panose="02020603050405020304" pitchFamily="18" charset="0"/>
                <a:ea typeface="Montserrat Bold" pitchFamily="34" charset="-122"/>
                <a:cs typeface="Times New Roman" panose="02020603050405020304" pitchFamily="18" charset="0"/>
              </a:rPr>
              <a:t>API Layer</a:t>
            </a:r>
            <a:endParaRPr lang="en-US" sz="2000" dirty="0">
              <a:latin typeface="Times New Roman" panose="02020603050405020304" pitchFamily="18" charset="0"/>
              <a:cs typeface="Times New Roman" panose="02020603050405020304" pitchFamily="18" charset="0"/>
            </a:endParaRPr>
          </a:p>
        </p:txBody>
      </p:sp>
      <p:sp>
        <p:nvSpPr>
          <p:cNvPr id="22" name="Text 20">
            <a:extLst>
              <a:ext uri="{FF2B5EF4-FFF2-40B4-BE49-F238E27FC236}">
                <a16:creationId xmlns:a16="http://schemas.microsoft.com/office/drawing/2014/main" id="{D3D6E696-2ECF-5DBE-66E1-8C8ED7317081}"/>
              </a:ext>
            </a:extLst>
          </p:cNvPr>
          <p:cNvSpPr/>
          <p:nvPr/>
        </p:nvSpPr>
        <p:spPr>
          <a:xfrm>
            <a:off x="5565219" y="5652730"/>
            <a:ext cx="3591282" cy="1360170"/>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Times New Roman" panose="02020603050405020304" pitchFamily="18" charset="0"/>
                <a:ea typeface="Source Sans 3" pitchFamily="34" charset="-122"/>
                <a:cs typeface="Times New Roman" panose="02020603050405020304" pitchFamily="18" charset="0"/>
              </a:rPr>
              <a:t>Non-blocking Play Framework endpoints serve consumption data, alerts, and billing information to client applications.</a:t>
            </a:r>
            <a:endParaRPr lang="en-US" sz="1750"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79C4B3F4-F08C-E93F-01E4-236002E7C57C}"/>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8287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3AA648-0A37-70C3-69F5-AE490C8B0FFE}"/>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25" name="Picture 24" descr="A diagram of a computer flowchart&#10;&#10;AI-generated content may be incorrect.">
            <a:extLst>
              <a:ext uri="{FF2B5EF4-FFF2-40B4-BE49-F238E27FC236}">
                <a16:creationId xmlns:a16="http://schemas.microsoft.com/office/drawing/2014/main" id="{C60ED922-A8D8-2C8E-C2CE-3A36ABD7555E}"/>
              </a:ext>
            </a:extLst>
          </p:cNvPr>
          <p:cNvPicPr>
            <a:picLocks noChangeAspect="1"/>
          </p:cNvPicPr>
          <p:nvPr/>
        </p:nvPicPr>
        <p:blipFill>
          <a:blip r:embed="rId3"/>
          <a:stretch>
            <a:fillRect/>
          </a:stretch>
        </p:blipFill>
        <p:spPr>
          <a:xfrm>
            <a:off x="0" y="2423672"/>
            <a:ext cx="14630400" cy="3382255"/>
          </a:xfrm>
          <a:prstGeom prst="rect">
            <a:avLst/>
          </a:prstGeom>
        </p:spPr>
      </p:pic>
      <p:sp>
        <p:nvSpPr>
          <p:cNvPr id="28" name="Text 0">
            <a:extLst>
              <a:ext uri="{FF2B5EF4-FFF2-40B4-BE49-F238E27FC236}">
                <a16:creationId xmlns:a16="http://schemas.microsoft.com/office/drawing/2014/main" id="{1ECA7A4E-4F47-355E-882E-92426729FB7E}"/>
              </a:ext>
            </a:extLst>
          </p:cNvPr>
          <p:cNvSpPr/>
          <p:nvPr/>
        </p:nvSpPr>
        <p:spPr>
          <a:xfrm>
            <a:off x="793313" y="558759"/>
            <a:ext cx="5526643" cy="643890"/>
          </a:xfrm>
          <a:prstGeom prst="rect">
            <a:avLst/>
          </a:prstGeom>
          <a:noFill/>
          <a:ln/>
        </p:spPr>
        <p:txBody>
          <a:bodyPr wrap="none" lIns="0" tIns="0" rIns="0" bIns="0" rtlCol="0" anchor="t"/>
          <a:lstStyle/>
          <a:p>
            <a:pPr marL="0" indent="0" algn="l">
              <a:lnSpc>
                <a:spcPts val="5050"/>
              </a:lnSpc>
              <a:buNone/>
            </a:pPr>
            <a:r>
              <a:rPr lang="en-US" sz="4050" b="1" dirty="0">
                <a:solidFill>
                  <a:srgbClr val="000000"/>
                </a:solidFill>
                <a:latin typeface="Times New Roman" panose="02020603050405020304" pitchFamily="18" charset="0"/>
                <a:ea typeface="Montserrat Bold" pitchFamily="34" charset="-122"/>
                <a:cs typeface="Times New Roman" panose="02020603050405020304" pitchFamily="18" charset="0"/>
              </a:rPr>
              <a:t>System Architecture</a:t>
            </a:r>
            <a:endParaRPr lang="en-US" sz="4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8068" y="582573"/>
            <a:ext cx="4793218" cy="599123"/>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Times New Roman" panose="02020603050405020304" pitchFamily="18" charset="0"/>
                <a:ea typeface="Montserrat Bold" pitchFamily="34" charset="-122"/>
                <a:cs typeface="Times New Roman" panose="02020603050405020304" pitchFamily="18" charset="0"/>
              </a:rPr>
              <a:t>Technology Used &amp; Why?</a:t>
            </a:r>
            <a:endParaRPr lang="en-US" sz="3750" dirty="0">
              <a:latin typeface="Times New Roman" panose="02020603050405020304" pitchFamily="18" charset="0"/>
              <a:cs typeface="Times New Roman" panose="02020603050405020304" pitchFamily="18" charset="0"/>
            </a:endParaRPr>
          </a:p>
        </p:txBody>
      </p:sp>
      <p:sp>
        <p:nvSpPr>
          <p:cNvPr id="3" name="Text 1"/>
          <p:cNvSpPr/>
          <p:nvPr/>
        </p:nvSpPr>
        <p:spPr>
          <a:xfrm>
            <a:off x="738068" y="1603415"/>
            <a:ext cx="13154263" cy="316230"/>
          </a:xfrm>
          <a:prstGeom prst="rect">
            <a:avLst/>
          </a:prstGeom>
          <a:noFill/>
          <a:ln/>
        </p:spPr>
        <p:txBody>
          <a:bodyPr wrap="none" lIns="0" tIns="0" rIns="0" bIns="0" rtlCol="0" anchor="t"/>
          <a:lstStyle/>
          <a:p>
            <a:pPr marL="0" indent="0" algn="l">
              <a:lnSpc>
                <a:spcPts val="2450"/>
              </a:lnSpc>
              <a:buNone/>
            </a:pPr>
            <a:r>
              <a:rPr lang="en-US" sz="1650" dirty="0">
                <a:solidFill>
                  <a:srgbClr val="3D3838"/>
                </a:solidFill>
                <a:latin typeface="Times New Roman" panose="02020603050405020304" pitchFamily="18" charset="0"/>
                <a:ea typeface="Source Sans 3" pitchFamily="34" charset="-122"/>
                <a:cs typeface="Times New Roman" panose="02020603050405020304" pitchFamily="18" charset="0"/>
              </a:rPr>
              <a:t>Each technology was strategically selected to address specific architectural requirements and performance characteristics.</a:t>
            </a:r>
            <a:endParaRPr lang="en-US" sz="1650" dirty="0">
              <a:latin typeface="Times New Roman" panose="02020603050405020304" pitchFamily="18" charset="0"/>
              <a:cs typeface="Times New Roman" panose="02020603050405020304" pitchFamily="18" charset="0"/>
            </a:endParaRPr>
          </a:p>
        </p:txBody>
      </p:sp>
      <p:sp>
        <p:nvSpPr>
          <p:cNvPr id="4" name="Text 2"/>
          <p:cNvSpPr/>
          <p:nvPr/>
        </p:nvSpPr>
        <p:spPr>
          <a:xfrm>
            <a:off x="738068" y="2367677"/>
            <a:ext cx="2396609" cy="299561"/>
          </a:xfrm>
          <a:prstGeom prst="rect">
            <a:avLst/>
          </a:prstGeom>
          <a:noFill/>
          <a:ln/>
        </p:spPr>
        <p:txBody>
          <a:bodyPr wrap="none" lIns="0" tIns="0" rIns="0" bIns="0" rtlCol="0" anchor="t"/>
          <a:lstStyle/>
          <a:p>
            <a:pPr marL="0" indent="0" algn="l">
              <a:lnSpc>
                <a:spcPts val="235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Akka</a:t>
            </a:r>
            <a:endParaRPr lang="en-US" sz="1850" dirty="0">
              <a:latin typeface="Times New Roman" panose="02020603050405020304" pitchFamily="18" charset="0"/>
              <a:cs typeface="Times New Roman" panose="02020603050405020304" pitchFamily="18" charset="0"/>
            </a:endParaRPr>
          </a:p>
        </p:txBody>
      </p:sp>
      <p:sp>
        <p:nvSpPr>
          <p:cNvPr id="5" name="Text 3"/>
          <p:cNvSpPr/>
          <p:nvPr/>
        </p:nvSpPr>
        <p:spPr>
          <a:xfrm>
            <a:off x="738068" y="2793683"/>
            <a:ext cx="3090862" cy="1897380"/>
          </a:xfrm>
          <a:prstGeom prst="rect">
            <a:avLst/>
          </a:prstGeom>
          <a:noFill/>
          <a:ln/>
        </p:spPr>
        <p:txBody>
          <a:bodyPr wrap="square" lIns="0" tIns="0" rIns="0" bIns="0" rtlCol="0" anchor="t"/>
          <a:lstStyle/>
          <a:p>
            <a:pPr marL="0" indent="0" algn="l">
              <a:lnSpc>
                <a:spcPts val="2450"/>
              </a:lnSpc>
              <a:buNone/>
            </a:pPr>
            <a:r>
              <a:rPr lang="en-US" sz="1650" dirty="0">
                <a:solidFill>
                  <a:srgbClr val="3D3838"/>
                </a:solidFill>
                <a:latin typeface="Times New Roman" panose="02020603050405020304" pitchFamily="18" charset="0"/>
                <a:ea typeface="Source Sans 3" pitchFamily="34" charset="-122"/>
                <a:cs typeface="Times New Roman" panose="02020603050405020304" pitchFamily="18" charset="0"/>
              </a:rPr>
              <a:t>Provides massive concurrency through lightweight actors, enabling simulation of thousands of meters with minimal resource overhead and built-in fault tolerance.</a:t>
            </a:r>
            <a:endParaRPr lang="en-US" sz="1650" dirty="0">
              <a:latin typeface="Times New Roman" panose="02020603050405020304" pitchFamily="18" charset="0"/>
              <a:cs typeface="Times New Roman" panose="02020603050405020304" pitchFamily="18" charset="0"/>
            </a:endParaRPr>
          </a:p>
        </p:txBody>
      </p:sp>
      <p:sp>
        <p:nvSpPr>
          <p:cNvPr id="6" name="Text 4"/>
          <p:cNvSpPr/>
          <p:nvPr/>
        </p:nvSpPr>
        <p:spPr>
          <a:xfrm>
            <a:off x="4092535" y="2367677"/>
            <a:ext cx="2396609" cy="299561"/>
          </a:xfrm>
          <a:prstGeom prst="rect">
            <a:avLst/>
          </a:prstGeom>
          <a:noFill/>
          <a:ln/>
        </p:spPr>
        <p:txBody>
          <a:bodyPr wrap="none" lIns="0" tIns="0" rIns="0" bIns="0" rtlCol="0" anchor="t"/>
          <a:lstStyle/>
          <a:p>
            <a:pPr marL="0" indent="0" algn="l">
              <a:lnSpc>
                <a:spcPts val="235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Kafka</a:t>
            </a:r>
            <a:endParaRPr lang="en-US" sz="1850" dirty="0">
              <a:latin typeface="Times New Roman" panose="02020603050405020304" pitchFamily="18" charset="0"/>
              <a:cs typeface="Times New Roman" panose="02020603050405020304" pitchFamily="18" charset="0"/>
            </a:endParaRPr>
          </a:p>
        </p:txBody>
      </p:sp>
      <p:sp>
        <p:nvSpPr>
          <p:cNvPr id="7" name="Text 5"/>
          <p:cNvSpPr/>
          <p:nvPr/>
        </p:nvSpPr>
        <p:spPr>
          <a:xfrm>
            <a:off x="4092535" y="2793683"/>
            <a:ext cx="3090862" cy="1897380"/>
          </a:xfrm>
          <a:prstGeom prst="rect">
            <a:avLst/>
          </a:prstGeom>
          <a:noFill/>
          <a:ln/>
        </p:spPr>
        <p:txBody>
          <a:bodyPr wrap="square" lIns="0" tIns="0" rIns="0" bIns="0" rtlCol="0" anchor="t"/>
          <a:lstStyle/>
          <a:p>
            <a:pPr marL="0" indent="0" algn="l">
              <a:lnSpc>
                <a:spcPts val="2450"/>
              </a:lnSpc>
              <a:buNone/>
            </a:pPr>
            <a:r>
              <a:rPr lang="en-US" sz="1650" dirty="0">
                <a:solidFill>
                  <a:srgbClr val="3D3838"/>
                </a:solidFill>
                <a:latin typeface="Times New Roman" panose="02020603050405020304" pitchFamily="18" charset="0"/>
                <a:ea typeface="Source Sans 3" pitchFamily="34" charset="-122"/>
                <a:cs typeface="Times New Roman" panose="02020603050405020304" pitchFamily="18" charset="0"/>
              </a:rPr>
              <a:t>Delivers high-throughput, fault-tolerant ingestion with horizontal scalability, partition-based parallelism, and guaranteed message ordering for reliable event streaming.</a:t>
            </a:r>
            <a:endParaRPr lang="en-US" sz="1650" dirty="0">
              <a:latin typeface="Times New Roman" panose="02020603050405020304" pitchFamily="18" charset="0"/>
              <a:cs typeface="Times New Roman" panose="02020603050405020304" pitchFamily="18" charset="0"/>
            </a:endParaRPr>
          </a:p>
        </p:txBody>
      </p:sp>
      <p:sp>
        <p:nvSpPr>
          <p:cNvPr id="8" name="Text 6"/>
          <p:cNvSpPr/>
          <p:nvPr/>
        </p:nvSpPr>
        <p:spPr>
          <a:xfrm>
            <a:off x="7447002" y="2367677"/>
            <a:ext cx="2396609" cy="299561"/>
          </a:xfrm>
          <a:prstGeom prst="rect">
            <a:avLst/>
          </a:prstGeom>
          <a:noFill/>
          <a:ln/>
        </p:spPr>
        <p:txBody>
          <a:bodyPr wrap="none" lIns="0" tIns="0" rIns="0" bIns="0" rtlCol="0" anchor="t"/>
          <a:lstStyle/>
          <a:p>
            <a:pPr marL="0" indent="0" algn="l">
              <a:lnSpc>
                <a:spcPts val="235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Spark</a:t>
            </a:r>
            <a:endParaRPr lang="en-US" sz="1850" dirty="0">
              <a:latin typeface="Times New Roman" panose="02020603050405020304" pitchFamily="18" charset="0"/>
              <a:cs typeface="Times New Roman" panose="02020603050405020304" pitchFamily="18" charset="0"/>
            </a:endParaRPr>
          </a:p>
        </p:txBody>
      </p:sp>
      <p:sp>
        <p:nvSpPr>
          <p:cNvPr id="9" name="Text 7"/>
          <p:cNvSpPr/>
          <p:nvPr/>
        </p:nvSpPr>
        <p:spPr>
          <a:xfrm>
            <a:off x="7447002" y="2793683"/>
            <a:ext cx="3090862" cy="1897380"/>
          </a:xfrm>
          <a:prstGeom prst="rect">
            <a:avLst/>
          </a:prstGeom>
          <a:noFill/>
          <a:ln/>
        </p:spPr>
        <p:txBody>
          <a:bodyPr wrap="square" lIns="0" tIns="0" rIns="0" bIns="0" rtlCol="0" anchor="t"/>
          <a:lstStyle/>
          <a:p>
            <a:pPr marL="0" indent="0" algn="l">
              <a:lnSpc>
                <a:spcPts val="2450"/>
              </a:lnSpc>
              <a:buNone/>
            </a:pPr>
            <a:r>
              <a:rPr lang="en-US" sz="1650" dirty="0">
                <a:solidFill>
                  <a:srgbClr val="3D3838"/>
                </a:solidFill>
                <a:latin typeface="Times New Roman" panose="02020603050405020304" pitchFamily="18" charset="0"/>
                <a:ea typeface="Source Sans 3" pitchFamily="34" charset="-122"/>
                <a:cs typeface="Times New Roman" panose="02020603050405020304" pitchFamily="18" charset="0"/>
              </a:rPr>
              <a:t>Unified engine handles both streaming and batch workloads, eliminating technology sprawl while providing powerful windowing, aggregation, and machine learning capabilities.</a:t>
            </a:r>
            <a:endParaRPr lang="en-US" sz="1650" dirty="0">
              <a:latin typeface="Times New Roman" panose="02020603050405020304" pitchFamily="18" charset="0"/>
              <a:cs typeface="Times New Roman" panose="02020603050405020304" pitchFamily="18" charset="0"/>
            </a:endParaRPr>
          </a:p>
        </p:txBody>
      </p:sp>
      <p:sp>
        <p:nvSpPr>
          <p:cNvPr id="10" name="Text 8"/>
          <p:cNvSpPr/>
          <p:nvPr/>
        </p:nvSpPr>
        <p:spPr>
          <a:xfrm>
            <a:off x="10801469" y="2367677"/>
            <a:ext cx="2396609" cy="299561"/>
          </a:xfrm>
          <a:prstGeom prst="rect">
            <a:avLst/>
          </a:prstGeom>
          <a:noFill/>
          <a:ln/>
        </p:spPr>
        <p:txBody>
          <a:bodyPr wrap="none" lIns="0" tIns="0" rIns="0" bIns="0" rtlCol="0" anchor="t"/>
          <a:lstStyle/>
          <a:p>
            <a:pPr marL="0" indent="0" algn="l">
              <a:lnSpc>
                <a:spcPts val="235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Avro</a:t>
            </a:r>
            <a:endParaRPr lang="en-US" sz="1850" dirty="0">
              <a:latin typeface="Times New Roman" panose="02020603050405020304" pitchFamily="18" charset="0"/>
              <a:cs typeface="Times New Roman" panose="02020603050405020304" pitchFamily="18" charset="0"/>
            </a:endParaRPr>
          </a:p>
        </p:txBody>
      </p:sp>
      <p:sp>
        <p:nvSpPr>
          <p:cNvPr id="11" name="Text 9"/>
          <p:cNvSpPr/>
          <p:nvPr/>
        </p:nvSpPr>
        <p:spPr>
          <a:xfrm>
            <a:off x="10801469" y="2793683"/>
            <a:ext cx="3090862" cy="1581150"/>
          </a:xfrm>
          <a:prstGeom prst="rect">
            <a:avLst/>
          </a:prstGeom>
          <a:noFill/>
          <a:ln/>
        </p:spPr>
        <p:txBody>
          <a:bodyPr wrap="square" lIns="0" tIns="0" rIns="0" bIns="0" rtlCol="0" anchor="t"/>
          <a:lstStyle/>
          <a:p>
            <a:pPr marL="0" indent="0" algn="l">
              <a:lnSpc>
                <a:spcPts val="2450"/>
              </a:lnSpc>
              <a:buNone/>
            </a:pPr>
            <a:r>
              <a:rPr lang="en-US" sz="1650" dirty="0">
                <a:solidFill>
                  <a:srgbClr val="3D3838"/>
                </a:solidFill>
                <a:latin typeface="Times New Roman" panose="02020603050405020304" pitchFamily="18" charset="0"/>
                <a:ea typeface="Source Sans 3" pitchFamily="34" charset="-122"/>
                <a:cs typeface="Times New Roman" panose="02020603050405020304" pitchFamily="18" charset="0"/>
              </a:rPr>
              <a:t>Columnar, compressed format with schema evolution support reduces storage costs while maintaining query performance for historical analytics.</a:t>
            </a:r>
            <a:endParaRPr lang="en-US" sz="1650" dirty="0">
              <a:latin typeface="Times New Roman" panose="02020603050405020304" pitchFamily="18" charset="0"/>
              <a:cs typeface="Times New Roman" panose="02020603050405020304" pitchFamily="18" charset="0"/>
            </a:endParaRPr>
          </a:p>
        </p:txBody>
      </p:sp>
      <p:sp>
        <p:nvSpPr>
          <p:cNvPr id="12" name="Text 10"/>
          <p:cNvSpPr/>
          <p:nvPr/>
        </p:nvSpPr>
        <p:spPr>
          <a:xfrm>
            <a:off x="738068" y="5323642"/>
            <a:ext cx="2396609" cy="299561"/>
          </a:xfrm>
          <a:prstGeom prst="rect">
            <a:avLst/>
          </a:prstGeom>
          <a:noFill/>
          <a:ln/>
        </p:spPr>
        <p:txBody>
          <a:bodyPr wrap="none" lIns="0" tIns="0" rIns="0" bIns="0" rtlCol="0" anchor="t"/>
          <a:lstStyle/>
          <a:p>
            <a:pPr marL="0" indent="0" algn="l">
              <a:lnSpc>
                <a:spcPts val="235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JSON</a:t>
            </a:r>
            <a:endParaRPr lang="en-US" sz="1850" dirty="0">
              <a:latin typeface="Times New Roman" panose="02020603050405020304" pitchFamily="18" charset="0"/>
              <a:cs typeface="Times New Roman" panose="02020603050405020304" pitchFamily="18" charset="0"/>
            </a:endParaRPr>
          </a:p>
        </p:txBody>
      </p:sp>
      <p:sp>
        <p:nvSpPr>
          <p:cNvPr id="13" name="Text 11"/>
          <p:cNvSpPr/>
          <p:nvPr/>
        </p:nvSpPr>
        <p:spPr>
          <a:xfrm>
            <a:off x="738068" y="5749647"/>
            <a:ext cx="3090862" cy="1264920"/>
          </a:xfrm>
          <a:prstGeom prst="rect">
            <a:avLst/>
          </a:prstGeom>
          <a:noFill/>
          <a:ln/>
        </p:spPr>
        <p:txBody>
          <a:bodyPr wrap="square" lIns="0" tIns="0" rIns="0" bIns="0" rtlCol="0" anchor="t"/>
          <a:lstStyle/>
          <a:p>
            <a:pPr marL="0" indent="0" algn="l">
              <a:lnSpc>
                <a:spcPts val="2450"/>
              </a:lnSpc>
              <a:buNone/>
            </a:pPr>
            <a:r>
              <a:rPr lang="en-US" sz="1650" dirty="0">
                <a:solidFill>
                  <a:srgbClr val="3D3838"/>
                </a:solidFill>
                <a:latin typeface="Times New Roman" panose="02020603050405020304" pitchFamily="18" charset="0"/>
                <a:ea typeface="Source Sans 3" pitchFamily="34" charset="-122"/>
                <a:cs typeface="Times New Roman" panose="02020603050405020304" pitchFamily="18" charset="0"/>
              </a:rPr>
              <a:t>Lightweight, human-readable format enables sub-millisecond API response times for recent data without database query overhead.</a:t>
            </a:r>
            <a:endParaRPr lang="en-US" sz="1650" dirty="0">
              <a:latin typeface="Times New Roman" panose="02020603050405020304" pitchFamily="18" charset="0"/>
              <a:cs typeface="Times New Roman" panose="02020603050405020304" pitchFamily="18" charset="0"/>
            </a:endParaRPr>
          </a:p>
        </p:txBody>
      </p:sp>
      <p:sp>
        <p:nvSpPr>
          <p:cNvPr id="14" name="Text 12"/>
          <p:cNvSpPr/>
          <p:nvPr/>
        </p:nvSpPr>
        <p:spPr>
          <a:xfrm>
            <a:off x="4092535" y="5323642"/>
            <a:ext cx="2396609" cy="299561"/>
          </a:xfrm>
          <a:prstGeom prst="rect">
            <a:avLst/>
          </a:prstGeom>
          <a:noFill/>
          <a:ln/>
        </p:spPr>
        <p:txBody>
          <a:bodyPr wrap="none" lIns="0" tIns="0" rIns="0" bIns="0" rtlCol="0" anchor="t"/>
          <a:lstStyle/>
          <a:p>
            <a:pPr marL="0" indent="0" algn="l">
              <a:lnSpc>
                <a:spcPts val="235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MySQL</a:t>
            </a:r>
            <a:endParaRPr lang="en-US" sz="1850" dirty="0">
              <a:latin typeface="Times New Roman" panose="02020603050405020304" pitchFamily="18" charset="0"/>
              <a:cs typeface="Times New Roman" panose="02020603050405020304" pitchFamily="18" charset="0"/>
            </a:endParaRPr>
          </a:p>
        </p:txBody>
      </p:sp>
      <p:sp>
        <p:nvSpPr>
          <p:cNvPr id="15" name="Text 13"/>
          <p:cNvSpPr/>
          <p:nvPr/>
        </p:nvSpPr>
        <p:spPr>
          <a:xfrm>
            <a:off x="4092535" y="5749647"/>
            <a:ext cx="3090862" cy="1581150"/>
          </a:xfrm>
          <a:prstGeom prst="rect">
            <a:avLst/>
          </a:prstGeom>
          <a:noFill/>
          <a:ln/>
        </p:spPr>
        <p:txBody>
          <a:bodyPr wrap="square" lIns="0" tIns="0" rIns="0" bIns="0" rtlCol="0" anchor="t"/>
          <a:lstStyle/>
          <a:p>
            <a:pPr marL="0" indent="0" algn="l">
              <a:lnSpc>
                <a:spcPts val="2450"/>
              </a:lnSpc>
              <a:buNone/>
            </a:pPr>
            <a:r>
              <a:rPr lang="en-US" sz="1650" dirty="0">
                <a:solidFill>
                  <a:srgbClr val="3D3838"/>
                </a:solidFill>
                <a:latin typeface="Times New Roman" panose="02020603050405020304" pitchFamily="18" charset="0"/>
                <a:ea typeface="Source Sans 3" pitchFamily="34" charset="-122"/>
                <a:cs typeface="Times New Roman" panose="02020603050405020304" pitchFamily="18" charset="0"/>
              </a:rPr>
              <a:t>Provides ACID guarantees and strong relational consistency for customer data, billing plans, and transactional operations requiring data integrity.</a:t>
            </a:r>
            <a:endParaRPr lang="en-US" sz="1650" dirty="0">
              <a:latin typeface="Times New Roman" panose="02020603050405020304" pitchFamily="18" charset="0"/>
              <a:cs typeface="Times New Roman" panose="02020603050405020304" pitchFamily="18" charset="0"/>
            </a:endParaRPr>
          </a:p>
        </p:txBody>
      </p:sp>
      <p:sp>
        <p:nvSpPr>
          <p:cNvPr id="16" name="Text 14"/>
          <p:cNvSpPr/>
          <p:nvPr/>
        </p:nvSpPr>
        <p:spPr>
          <a:xfrm>
            <a:off x="7447002" y="5323642"/>
            <a:ext cx="2396609" cy="299561"/>
          </a:xfrm>
          <a:prstGeom prst="rect">
            <a:avLst/>
          </a:prstGeom>
          <a:noFill/>
          <a:ln/>
        </p:spPr>
        <p:txBody>
          <a:bodyPr wrap="none" lIns="0" tIns="0" rIns="0" bIns="0" rtlCol="0" anchor="t"/>
          <a:lstStyle/>
          <a:p>
            <a:pPr marL="0" indent="0" algn="l">
              <a:lnSpc>
                <a:spcPts val="2350"/>
              </a:lnSpc>
              <a:buNone/>
            </a:pPr>
            <a:r>
              <a:rPr lang="en-US" sz="1850" b="1" dirty="0">
                <a:solidFill>
                  <a:srgbClr val="3D3838"/>
                </a:solidFill>
                <a:latin typeface="Times New Roman" panose="02020603050405020304" pitchFamily="18" charset="0"/>
                <a:ea typeface="Montserrat Bold" pitchFamily="34" charset="-122"/>
                <a:cs typeface="Times New Roman" panose="02020603050405020304" pitchFamily="18" charset="0"/>
              </a:rPr>
              <a:t>Play Framework</a:t>
            </a:r>
            <a:endParaRPr lang="en-US" sz="1850" dirty="0">
              <a:latin typeface="Times New Roman" panose="02020603050405020304" pitchFamily="18" charset="0"/>
              <a:cs typeface="Times New Roman" panose="02020603050405020304" pitchFamily="18" charset="0"/>
            </a:endParaRPr>
          </a:p>
        </p:txBody>
      </p:sp>
      <p:sp>
        <p:nvSpPr>
          <p:cNvPr id="17" name="Text 15"/>
          <p:cNvSpPr/>
          <p:nvPr/>
        </p:nvSpPr>
        <p:spPr>
          <a:xfrm>
            <a:off x="7447002" y="5749647"/>
            <a:ext cx="3090862" cy="1897380"/>
          </a:xfrm>
          <a:prstGeom prst="rect">
            <a:avLst/>
          </a:prstGeom>
          <a:noFill/>
          <a:ln/>
        </p:spPr>
        <p:txBody>
          <a:bodyPr wrap="square" lIns="0" tIns="0" rIns="0" bIns="0" rtlCol="0" anchor="t"/>
          <a:lstStyle/>
          <a:p>
            <a:pPr marL="0" indent="0" algn="l">
              <a:lnSpc>
                <a:spcPts val="2450"/>
              </a:lnSpc>
              <a:buNone/>
            </a:pPr>
            <a:r>
              <a:rPr lang="en-US" sz="1650" dirty="0">
                <a:solidFill>
                  <a:srgbClr val="3D3838"/>
                </a:solidFill>
                <a:latin typeface="Times New Roman" panose="02020603050405020304" pitchFamily="18" charset="0"/>
                <a:ea typeface="Source Sans 3" pitchFamily="34" charset="-122"/>
                <a:cs typeface="Times New Roman" panose="02020603050405020304" pitchFamily="18" charset="0"/>
              </a:rPr>
              <a:t>Non-blocking, reactive architecture maximizes throughput for API requests, handling thousands of concurrent connections with minimal server resources.</a:t>
            </a:r>
            <a:endParaRPr lang="en-US" sz="1650"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F915EECE-B19D-28D7-E800-1693A6E8EE35}"/>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9238" y="447199"/>
            <a:ext cx="3927515" cy="462082"/>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Times New Roman" panose="02020603050405020304" pitchFamily="18" charset="0"/>
                <a:ea typeface="Montserrat Bold" pitchFamily="34" charset="-122"/>
                <a:cs typeface="Times New Roman" panose="02020603050405020304" pitchFamily="18" charset="0"/>
              </a:rPr>
              <a:t>Data Model (MySQL)</a:t>
            </a:r>
            <a:endParaRPr lang="en-US" sz="2900" dirty="0">
              <a:latin typeface="Times New Roman" panose="02020603050405020304" pitchFamily="18" charset="0"/>
              <a:cs typeface="Times New Roman" panose="02020603050405020304" pitchFamily="18" charset="0"/>
            </a:endParaRPr>
          </a:p>
        </p:txBody>
      </p:sp>
      <p:sp>
        <p:nvSpPr>
          <p:cNvPr id="4" name="Text 1"/>
          <p:cNvSpPr/>
          <p:nvPr/>
        </p:nvSpPr>
        <p:spPr>
          <a:xfrm>
            <a:off x="8215551" y="1315879"/>
            <a:ext cx="2217896" cy="277178"/>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Times New Roman" panose="02020603050405020304" pitchFamily="18" charset="0"/>
                <a:ea typeface="Montserrat Bold" pitchFamily="34" charset="-122"/>
                <a:cs typeface="Times New Roman" panose="02020603050405020304" pitchFamily="18" charset="0"/>
              </a:rPr>
              <a:t>Core Entities</a:t>
            </a:r>
            <a:endParaRPr lang="en-US" sz="1700" dirty="0">
              <a:latin typeface="Times New Roman" panose="02020603050405020304" pitchFamily="18" charset="0"/>
              <a:cs typeface="Times New Roman" panose="02020603050405020304" pitchFamily="18" charset="0"/>
            </a:endParaRPr>
          </a:p>
        </p:txBody>
      </p:sp>
      <p:sp>
        <p:nvSpPr>
          <p:cNvPr id="5" name="Shape 2"/>
          <p:cNvSpPr/>
          <p:nvPr/>
        </p:nvSpPr>
        <p:spPr>
          <a:xfrm>
            <a:off x="8215551" y="1862316"/>
            <a:ext cx="81320" cy="81320"/>
          </a:xfrm>
          <a:prstGeom prst="roundRect">
            <a:avLst>
              <a:gd name="adj" fmla="val 562223"/>
            </a:avLst>
          </a:prstGeom>
          <a:solidFill>
            <a:srgbClr val="2D2E34"/>
          </a:solidFill>
          <a:ln/>
        </p:spPr>
      </p:sp>
      <p:sp>
        <p:nvSpPr>
          <p:cNvPr id="6" name="Text 3"/>
          <p:cNvSpPr/>
          <p:nvPr/>
        </p:nvSpPr>
        <p:spPr>
          <a:xfrm>
            <a:off x="8459510" y="1775936"/>
            <a:ext cx="1848207" cy="230981"/>
          </a:xfrm>
          <a:prstGeom prst="rect">
            <a:avLst/>
          </a:prstGeom>
          <a:noFill/>
          <a:ln/>
        </p:spPr>
        <p:txBody>
          <a:bodyPr wrap="none" lIns="0" tIns="0" rIns="0" bIns="0" rtlCol="0" anchor="t"/>
          <a:lstStyle/>
          <a:p>
            <a:pPr marL="0" indent="0" algn="l">
              <a:lnSpc>
                <a:spcPts val="1800"/>
              </a:lnSpc>
              <a:buNone/>
            </a:pPr>
            <a:r>
              <a:rPr lang="en-US" sz="1450" b="1" dirty="0">
                <a:solidFill>
                  <a:srgbClr val="3D3838"/>
                </a:solidFill>
                <a:latin typeface="Times New Roman" panose="02020603050405020304" pitchFamily="18" charset="0"/>
                <a:ea typeface="Montserrat Bold" pitchFamily="34" charset="-122"/>
                <a:cs typeface="Times New Roman" panose="02020603050405020304" pitchFamily="18" charset="0"/>
              </a:rPr>
              <a:t>Customer</a:t>
            </a:r>
            <a:endParaRPr lang="en-US" sz="1450" dirty="0">
              <a:latin typeface="Times New Roman" panose="02020603050405020304" pitchFamily="18" charset="0"/>
              <a:cs typeface="Times New Roman" panose="02020603050405020304" pitchFamily="18" charset="0"/>
            </a:endParaRPr>
          </a:p>
        </p:txBody>
      </p:sp>
      <p:sp>
        <p:nvSpPr>
          <p:cNvPr id="7" name="Text 4"/>
          <p:cNvSpPr/>
          <p:nvPr/>
        </p:nvSpPr>
        <p:spPr>
          <a:xfrm>
            <a:off x="8459510" y="2169557"/>
            <a:ext cx="5609153" cy="487918"/>
          </a:xfrm>
          <a:prstGeom prst="rect">
            <a:avLst/>
          </a:prstGeom>
          <a:noFill/>
          <a:ln/>
        </p:spPr>
        <p:txBody>
          <a:bodyPr wrap="square" lIns="0" tIns="0" rIns="0" bIns="0" rtlCol="0" anchor="t"/>
          <a:lstStyle/>
          <a:p>
            <a:pPr marL="0" indent="0" algn="l">
              <a:lnSpc>
                <a:spcPts val="1900"/>
              </a:lnSpc>
              <a:buNone/>
            </a:pPr>
            <a:r>
              <a:rPr lang="en-US" sz="1250" dirty="0">
                <a:solidFill>
                  <a:srgbClr val="3D3838"/>
                </a:solidFill>
                <a:latin typeface="Times New Roman" panose="02020603050405020304" pitchFamily="18" charset="0"/>
                <a:ea typeface="Source Sans 3" pitchFamily="34" charset="-122"/>
                <a:cs typeface="Times New Roman" panose="02020603050405020304" pitchFamily="18" charset="0"/>
              </a:rPr>
              <a:t>Stores account holder information, contact details, and account status for billing and communication.</a:t>
            </a:r>
            <a:endParaRPr lang="en-US" sz="1250" dirty="0">
              <a:latin typeface="Times New Roman" panose="02020603050405020304" pitchFamily="18" charset="0"/>
              <a:cs typeface="Times New Roman" panose="02020603050405020304" pitchFamily="18" charset="0"/>
            </a:endParaRPr>
          </a:p>
        </p:txBody>
      </p:sp>
      <p:sp>
        <p:nvSpPr>
          <p:cNvPr id="8" name="Shape 5"/>
          <p:cNvSpPr/>
          <p:nvPr/>
        </p:nvSpPr>
        <p:spPr>
          <a:xfrm>
            <a:off x="8215551" y="3069134"/>
            <a:ext cx="81320" cy="81320"/>
          </a:xfrm>
          <a:prstGeom prst="roundRect">
            <a:avLst>
              <a:gd name="adj" fmla="val 562223"/>
            </a:avLst>
          </a:prstGeom>
          <a:solidFill>
            <a:srgbClr val="2D2E34"/>
          </a:solidFill>
          <a:ln/>
        </p:spPr>
      </p:sp>
      <p:sp>
        <p:nvSpPr>
          <p:cNvPr id="9" name="Text 6"/>
          <p:cNvSpPr/>
          <p:nvPr/>
        </p:nvSpPr>
        <p:spPr>
          <a:xfrm>
            <a:off x="8459510" y="2982754"/>
            <a:ext cx="1848207" cy="230981"/>
          </a:xfrm>
          <a:prstGeom prst="rect">
            <a:avLst/>
          </a:prstGeom>
          <a:noFill/>
          <a:ln/>
        </p:spPr>
        <p:txBody>
          <a:bodyPr wrap="none" lIns="0" tIns="0" rIns="0" bIns="0" rtlCol="0" anchor="t"/>
          <a:lstStyle/>
          <a:p>
            <a:pPr marL="0" indent="0" algn="l">
              <a:lnSpc>
                <a:spcPts val="1800"/>
              </a:lnSpc>
              <a:buNone/>
            </a:pPr>
            <a:r>
              <a:rPr lang="en-US" sz="1450" b="1" dirty="0">
                <a:solidFill>
                  <a:srgbClr val="3D3838"/>
                </a:solidFill>
                <a:latin typeface="Times New Roman" panose="02020603050405020304" pitchFamily="18" charset="0"/>
                <a:ea typeface="Montserrat Bold" pitchFamily="34" charset="-122"/>
                <a:cs typeface="Times New Roman" panose="02020603050405020304" pitchFamily="18" charset="0"/>
              </a:rPr>
              <a:t>Household</a:t>
            </a:r>
            <a:endParaRPr lang="en-US" sz="1450" dirty="0">
              <a:latin typeface="Times New Roman" panose="02020603050405020304" pitchFamily="18" charset="0"/>
              <a:cs typeface="Times New Roman" panose="02020603050405020304" pitchFamily="18" charset="0"/>
            </a:endParaRPr>
          </a:p>
        </p:txBody>
      </p:sp>
      <p:sp>
        <p:nvSpPr>
          <p:cNvPr id="10" name="Text 7"/>
          <p:cNvSpPr/>
          <p:nvPr/>
        </p:nvSpPr>
        <p:spPr>
          <a:xfrm>
            <a:off x="8459510" y="3376374"/>
            <a:ext cx="5609153" cy="487918"/>
          </a:xfrm>
          <a:prstGeom prst="rect">
            <a:avLst/>
          </a:prstGeom>
          <a:noFill/>
          <a:ln/>
        </p:spPr>
        <p:txBody>
          <a:bodyPr wrap="square" lIns="0" tIns="0" rIns="0" bIns="0" rtlCol="0" anchor="t"/>
          <a:lstStyle/>
          <a:p>
            <a:pPr marL="0" indent="0" algn="l">
              <a:lnSpc>
                <a:spcPts val="1900"/>
              </a:lnSpc>
              <a:buNone/>
            </a:pPr>
            <a:r>
              <a:rPr lang="en-US" sz="1250" dirty="0">
                <a:solidFill>
                  <a:srgbClr val="3D3838"/>
                </a:solidFill>
                <a:latin typeface="Times New Roman" panose="02020603050405020304" pitchFamily="18" charset="0"/>
                <a:ea typeface="Source Sans 3" pitchFamily="34" charset="-122"/>
                <a:cs typeface="Times New Roman" panose="02020603050405020304" pitchFamily="18" charset="0"/>
              </a:rPr>
              <a:t>Represents physical locations with meter IDs, linking customers to their consumption devices.</a:t>
            </a:r>
            <a:endParaRPr lang="en-US" sz="1250" dirty="0">
              <a:latin typeface="Times New Roman" panose="02020603050405020304" pitchFamily="18" charset="0"/>
              <a:cs typeface="Times New Roman" panose="02020603050405020304" pitchFamily="18" charset="0"/>
            </a:endParaRPr>
          </a:p>
        </p:txBody>
      </p:sp>
      <p:sp>
        <p:nvSpPr>
          <p:cNvPr id="11" name="Shape 8"/>
          <p:cNvSpPr/>
          <p:nvPr/>
        </p:nvSpPr>
        <p:spPr>
          <a:xfrm>
            <a:off x="8215551" y="4275951"/>
            <a:ext cx="81320" cy="81320"/>
          </a:xfrm>
          <a:prstGeom prst="roundRect">
            <a:avLst>
              <a:gd name="adj" fmla="val 562223"/>
            </a:avLst>
          </a:prstGeom>
          <a:solidFill>
            <a:srgbClr val="2D2E34"/>
          </a:solidFill>
          <a:ln/>
        </p:spPr>
      </p:sp>
      <p:sp>
        <p:nvSpPr>
          <p:cNvPr id="12" name="Text 9"/>
          <p:cNvSpPr/>
          <p:nvPr/>
        </p:nvSpPr>
        <p:spPr>
          <a:xfrm>
            <a:off x="8459510" y="4189571"/>
            <a:ext cx="1848207" cy="230981"/>
          </a:xfrm>
          <a:prstGeom prst="rect">
            <a:avLst/>
          </a:prstGeom>
          <a:noFill/>
          <a:ln/>
        </p:spPr>
        <p:txBody>
          <a:bodyPr wrap="none" lIns="0" tIns="0" rIns="0" bIns="0" rtlCol="0" anchor="t"/>
          <a:lstStyle/>
          <a:p>
            <a:pPr marL="0" indent="0" algn="l">
              <a:lnSpc>
                <a:spcPts val="1800"/>
              </a:lnSpc>
              <a:buNone/>
            </a:pPr>
            <a:r>
              <a:rPr lang="en-US" sz="1450" b="1" dirty="0">
                <a:solidFill>
                  <a:srgbClr val="3D3838"/>
                </a:solidFill>
                <a:latin typeface="Times New Roman" panose="02020603050405020304" pitchFamily="18" charset="0"/>
                <a:ea typeface="Montserrat Bold" pitchFamily="34" charset="-122"/>
                <a:cs typeface="Times New Roman" panose="02020603050405020304" pitchFamily="18" charset="0"/>
              </a:rPr>
              <a:t>Billing Plan</a:t>
            </a:r>
            <a:endParaRPr lang="en-US" sz="1450" dirty="0">
              <a:latin typeface="Times New Roman" panose="02020603050405020304" pitchFamily="18" charset="0"/>
              <a:cs typeface="Times New Roman" panose="02020603050405020304" pitchFamily="18" charset="0"/>
            </a:endParaRPr>
          </a:p>
        </p:txBody>
      </p:sp>
      <p:sp>
        <p:nvSpPr>
          <p:cNvPr id="13" name="Text 10"/>
          <p:cNvSpPr/>
          <p:nvPr/>
        </p:nvSpPr>
        <p:spPr>
          <a:xfrm>
            <a:off x="8459510" y="4583192"/>
            <a:ext cx="5609153" cy="487918"/>
          </a:xfrm>
          <a:prstGeom prst="rect">
            <a:avLst/>
          </a:prstGeom>
          <a:noFill/>
          <a:ln/>
        </p:spPr>
        <p:txBody>
          <a:bodyPr wrap="square" lIns="0" tIns="0" rIns="0" bIns="0" rtlCol="0" anchor="t"/>
          <a:lstStyle/>
          <a:p>
            <a:pPr marL="0" indent="0" algn="l">
              <a:lnSpc>
                <a:spcPts val="1900"/>
              </a:lnSpc>
              <a:buNone/>
            </a:pPr>
            <a:r>
              <a:rPr lang="en-US" sz="1250" dirty="0">
                <a:solidFill>
                  <a:srgbClr val="3D3838"/>
                </a:solidFill>
                <a:latin typeface="Times New Roman" panose="02020603050405020304" pitchFamily="18" charset="0"/>
                <a:ea typeface="Source Sans 3" pitchFamily="34" charset="-122"/>
                <a:cs typeface="Times New Roman" panose="02020603050405020304" pitchFamily="18" charset="0"/>
              </a:rPr>
              <a:t>Defines tiered pricing structures, base rates, and usage thresholds for accurate cost calculation.</a:t>
            </a:r>
            <a:endParaRPr lang="en-US" sz="1250" dirty="0">
              <a:latin typeface="Times New Roman" panose="02020603050405020304" pitchFamily="18" charset="0"/>
              <a:cs typeface="Times New Roman" panose="02020603050405020304" pitchFamily="18" charset="0"/>
            </a:endParaRPr>
          </a:p>
        </p:txBody>
      </p:sp>
      <p:sp>
        <p:nvSpPr>
          <p:cNvPr id="14" name="Shape 11"/>
          <p:cNvSpPr/>
          <p:nvPr/>
        </p:nvSpPr>
        <p:spPr>
          <a:xfrm>
            <a:off x="8215551" y="5482769"/>
            <a:ext cx="81320" cy="81320"/>
          </a:xfrm>
          <a:prstGeom prst="roundRect">
            <a:avLst>
              <a:gd name="adj" fmla="val 562223"/>
            </a:avLst>
          </a:prstGeom>
          <a:solidFill>
            <a:srgbClr val="2D2E34"/>
          </a:solidFill>
          <a:ln/>
        </p:spPr>
      </p:sp>
      <p:sp>
        <p:nvSpPr>
          <p:cNvPr id="15" name="Text 12"/>
          <p:cNvSpPr/>
          <p:nvPr/>
        </p:nvSpPr>
        <p:spPr>
          <a:xfrm>
            <a:off x="8459510" y="5396389"/>
            <a:ext cx="1848207" cy="230981"/>
          </a:xfrm>
          <a:prstGeom prst="rect">
            <a:avLst/>
          </a:prstGeom>
          <a:noFill/>
          <a:ln/>
        </p:spPr>
        <p:txBody>
          <a:bodyPr wrap="none" lIns="0" tIns="0" rIns="0" bIns="0" rtlCol="0" anchor="t"/>
          <a:lstStyle/>
          <a:p>
            <a:pPr marL="0" indent="0" algn="l">
              <a:lnSpc>
                <a:spcPts val="1800"/>
              </a:lnSpc>
              <a:buNone/>
            </a:pPr>
            <a:r>
              <a:rPr lang="en-US" sz="1450" b="1" dirty="0">
                <a:solidFill>
                  <a:srgbClr val="3D3838"/>
                </a:solidFill>
                <a:latin typeface="Times New Roman" panose="02020603050405020304" pitchFamily="18" charset="0"/>
                <a:ea typeface="Montserrat Bold" pitchFamily="34" charset="-122"/>
                <a:cs typeface="Times New Roman" panose="02020603050405020304" pitchFamily="18" charset="0"/>
              </a:rPr>
              <a:t>Billing History</a:t>
            </a:r>
            <a:endParaRPr lang="en-US" sz="1450" dirty="0">
              <a:latin typeface="Times New Roman" panose="02020603050405020304" pitchFamily="18" charset="0"/>
              <a:cs typeface="Times New Roman" panose="02020603050405020304" pitchFamily="18" charset="0"/>
            </a:endParaRPr>
          </a:p>
        </p:txBody>
      </p:sp>
      <p:sp>
        <p:nvSpPr>
          <p:cNvPr id="16" name="Text 13"/>
          <p:cNvSpPr/>
          <p:nvPr/>
        </p:nvSpPr>
        <p:spPr>
          <a:xfrm>
            <a:off x="8459510" y="5790009"/>
            <a:ext cx="5609153" cy="487918"/>
          </a:xfrm>
          <a:prstGeom prst="rect">
            <a:avLst/>
          </a:prstGeom>
          <a:noFill/>
          <a:ln/>
        </p:spPr>
        <p:txBody>
          <a:bodyPr wrap="square" lIns="0" tIns="0" rIns="0" bIns="0" rtlCol="0" anchor="t"/>
          <a:lstStyle/>
          <a:p>
            <a:pPr marL="0" indent="0" algn="l">
              <a:lnSpc>
                <a:spcPts val="1900"/>
              </a:lnSpc>
              <a:buNone/>
            </a:pPr>
            <a:r>
              <a:rPr lang="en-US" sz="1250" dirty="0">
                <a:solidFill>
                  <a:srgbClr val="3D3838"/>
                </a:solidFill>
                <a:latin typeface="Times New Roman" panose="02020603050405020304" pitchFamily="18" charset="0"/>
                <a:ea typeface="Source Sans 3" pitchFamily="34" charset="-122"/>
                <a:cs typeface="Times New Roman" panose="02020603050405020304" pitchFamily="18" charset="0"/>
              </a:rPr>
              <a:t>Archives monthly statements with consumption totals, charges, and payment status for audit trails.</a:t>
            </a:r>
            <a:endParaRPr lang="en-US" sz="1250" dirty="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E8163F59-F4A3-BBD2-36F7-E3C7A23AC7BB}"/>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21" name="Picture 20" descr="A diagram of a company&#10;&#10;AI-generated content may be incorrect.">
            <a:extLst>
              <a:ext uri="{FF2B5EF4-FFF2-40B4-BE49-F238E27FC236}">
                <a16:creationId xmlns:a16="http://schemas.microsoft.com/office/drawing/2014/main" id="{68822CC7-B159-A504-3D93-26BE7FA1A723}"/>
              </a:ext>
            </a:extLst>
          </p:cNvPr>
          <p:cNvPicPr>
            <a:picLocks noChangeAspect="1"/>
          </p:cNvPicPr>
          <p:nvPr/>
        </p:nvPicPr>
        <p:blipFill>
          <a:blip r:embed="rId3"/>
          <a:stretch>
            <a:fillRect/>
          </a:stretch>
        </p:blipFill>
        <p:spPr>
          <a:xfrm>
            <a:off x="817755" y="1071684"/>
            <a:ext cx="4877651" cy="68633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45543" y="615434"/>
            <a:ext cx="7625715" cy="1232535"/>
          </a:xfrm>
          <a:prstGeom prst="rect">
            <a:avLst/>
          </a:prstGeom>
          <a:noFill/>
          <a:ln/>
        </p:spPr>
        <p:txBody>
          <a:bodyPr wrap="square" lIns="0" tIns="0" rIns="0" bIns="0" rtlCol="0" anchor="t"/>
          <a:lstStyle/>
          <a:p>
            <a:pPr marL="0" marR="0" lvl="0" indent="0" algn="l" defTabSz="914400" rtl="0" eaLnBrk="1" fontAlgn="auto" latinLnBrk="0" hangingPunct="1">
              <a:lnSpc>
                <a:spcPts val="4850"/>
              </a:lnSpc>
              <a:spcBef>
                <a:spcPts val="0"/>
              </a:spcBef>
              <a:spcAft>
                <a:spcPts val="0"/>
              </a:spcAft>
              <a:buClrTx/>
              <a:buSzTx/>
              <a:buFontTx/>
              <a:buNone/>
              <a:tabLst/>
              <a:defRPr/>
            </a:pPr>
            <a:r>
              <a:rPr kumimoji="0" lang="en-US" sz="385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Pipeline A: Smart Meter Simulation</a:t>
            </a:r>
            <a:endParaRPr kumimoji="0" lang="en-US" sz="385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Shape 1"/>
          <p:cNvSpPr/>
          <p:nvPr/>
        </p:nvSpPr>
        <p:spPr>
          <a:xfrm>
            <a:off x="6245543" y="2173248"/>
            <a:ext cx="3704392" cy="2806779"/>
          </a:xfrm>
          <a:prstGeom prst="roundRect">
            <a:avLst>
              <a:gd name="adj" fmla="val 1159"/>
            </a:avLst>
          </a:prstGeom>
          <a:solidFill>
            <a:srgbClr val="F2EEEE"/>
          </a:solidFill>
          <a:ln/>
        </p:spPr>
      </p:sp>
      <p:sp>
        <p:nvSpPr>
          <p:cNvPr id="5" name="Text 2"/>
          <p:cNvSpPr/>
          <p:nvPr/>
        </p:nvSpPr>
        <p:spPr>
          <a:xfrm>
            <a:off x="6462355" y="2390061"/>
            <a:ext cx="3270766" cy="616029"/>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Actor-Based Architecture</a:t>
            </a:r>
            <a:endParaRPr kumimoji="0" lang="en-US" sz="19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Text 3"/>
          <p:cNvSpPr/>
          <p:nvPr/>
        </p:nvSpPr>
        <p:spPr>
          <a:xfrm>
            <a:off x="6462355" y="3136225"/>
            <a:ext cx="3270766" cy="1626989"/>
          </a:xfrm>
          <a:prstGeom prst="rect">
            <a:avLst/>
          </a:prstGeom>
          <a:noFill/>
          <a:ln/>
        </p:spPr>
        <p:txBody>
          <a:bodyPr wrap="squar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Each meter runs as an independent Akka actor, enabling thousands of concurrent simulations with minimal overhead and natural scalability.</a:t>
            </a:r>
            <a:endParaRPr kumimoji="0" lang="en-US" sz="17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Shape 4"/>
          <p:cNvSpPr/>
          <p:nvPr/>
        </p:nvSpPr>
        <p:spPr>
          <a:xfrm>
            <a:off x="10166747" y="2173248"/>
            <a:ext cx="3704511" cy="2806779"/>
          </a:xfrm>
          <a:prstGeom prst="roundRect">
            <a:avLst>
              <a:gd name="adj" fmla="val 1159"/>
            </a:avLst>
          </a:prstGeom>
          <a:solidFill>
            <a:srgbClr val="F2EEEE"/>
          </a:solidFill>
          <a:ln/>
        </p:spPr>
      </p:sp>
      <p:sp>
        <p:nvSpPr>
          <p:cNvPr id="8" name="Text 5"/>
          <p:cNvSpPr/>
          <p:nvPr/>
        </p:nvSpPr>
        <p:spPr>
          <a:xfrm>
            <a:off x="10383560" y="2390061"/>
            <a:ext cx="3270885" cy="616029"/>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Realistic Data Generation</a:t>
            </a:r>
            <a:endParaRPr kumimoji="0" lang="en-US" sz="19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 name="Text 6"/>
          <p:cNvSpPr/>
          <p:nvPr/>
        </p:nvSpPr>
        <p:spPr>
          <a:xfrm>
            <a:off x="10383560" y="3136225"/>
            <a:ext cx="3270885" cy="1626989"/>
          </a:xfrm>
          <a:prstGeom prst="rect">
            <a:avLst/>
          </a:prstGeom>
          <a:noFill/>
          <a:ln/>
        </p:spPr>
        <p:txBody>
          <a:bodyPr wrap="squar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Time-based consumption patterns mirror real household usage, with random pressure variations reflecting actual distribution network conditions.</a:t>
            </a:r>
            <a:endParaRPr kumimoji="0" lang="en-US" sz="17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 name="Shape 7"/>
          <p:cNvSpPr/>
          <p:nvPr/>
        </p:nvSpPr>
        <p:spPr>
          <a:xfrm>
            <a:off x="6245543" y="5196840"/>
            <a:ext cx="7625715" cy="1522571"/>
          </a:xfrm>
          <a:prstGeom prst="roundRect">
            <a:avLst>
              <a:gd name="adj" fmla="val 2137"/>
            </a:avLst>
          </a:prstGeom>
          <a:solidFill>
            <a:srgbClr val="F2EEEE"/>
          </a:solidFill>
          <a:ln/>
        </p:spPr>
      </p:sp>
      <p:sp>
        <p:nvSpPr>
          <p:cNvPr id="11" name="Text 8"/>
          <p:cNvSpPr/>
          <p:nvPr/>
        </p:nvSpPr>
        <p:spPr>
          <a:xfrm>
            <a:off x="6462355" y="5413653"/>
            <a:ext cx="2464832" cy="308015"/>
          </a:xfrm>
          <a:prstGeom prst="rect">
            <a:avLst/>
          </a:prstGeom>
          <a:noFill/>
          <a:ln/>
        </p:spPr>
        <p:txBody>
          <a:bodyPr wrap="non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Anomaly Injection</a:t>
            </a:r>
            <a:endParaRPr kumimoji="0" lang="en-US" sz="19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2" name="Text 9"/>
          <p:cNvSpPr/>
          <p:nvPr/>
        </p:nvSpPr>
        <p:spPr>
          <a:xfrm>
            <a:off x="6462355" y="5851803"/>
            <a:ext cx="7192089" cy="650796"/>
          </a:xfrm>
          <a:prstGeom prst="rect">
            <a:avLst/>
          </a:prstGeom>
          <a:noFill/>
          <a:ln/>
        </p:spPr>
        <p:txBody>
          <a:bodyPr wrap="squar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2% anomaly rate introduces realistic edge cases including spikes, drops, and irregular patterns for robust testing.</a:t>
            </a:r>
            <a:endParaRPr kumimoji="0" lang="en-US" sz="17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3" name="Text 10"/>
          <p:cNvSpPr/>
          <p:nvPr/>
        </p:nvSpPr>
        <p:spPr>
          <a:xfrm>
            <a:off x="6245543" y="6963370"/>
            <a:ext cx="7625715" cy="650796"/>
          </a:xfrm>
          <a:prstGeom prst="rect">
            <a:avLst/>
          </a:prstGeom>
          <a:noFill/>
          <a:ln/>
        </p:spPr>
        <p:txBody>
          <a:bodyPr wrap="squar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The actor-per-meter model provides inherent fault isolation and backpressure handling, making it ideal for high-volume simulation workloads.</a:t>
            </a:r>
            <a:endParaRPr kumimoji="0" lang="en-US" sz="17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5" name="Picture 14" descr="A diagram of a process&#10;&#10;AI-generated content may be incorrect.">
            <a:extLst>
              <a:ext uri="{FF2B5EF4-FFF2-40B4-BE49-F238E27FC236}">
                <a16:creationId xmlns:a16="http://schemas.microsoft.com/office/drawing/2014/main" id="{C6FBFF47-F4CD-4D4F-54AD-8A987705F33A}"/>
              </a:ext>
            </a:extLst>
          </p:cNvPr>
          <p:cNvPicPr>
            <a:picLocks noChangeAspect="1"/>
          </p:cNvPicPr>
          <p:nvPr/>
        </p:nvPicPr>
        <p:blipFill>
          <a:blip r:embed="rId3"/>
          <a:stretch>
            <a:fillRect/>
          </a:stretch>
        </p:blipFill>
        <p:spPr>
          <a:xfrm>
            <a:off x="856855" y="58213"/>
            <a:ext cx="3606799" cy="7783011"/>
          </a:xfrm>
          <a:prstGeom prst="rect">
            <a:avLst/>
          </a:prstGeom>
        </p:spPr>
      </p:pic>
      <p:sp>
        <p:nvSpPr>
          <p:cNvPr id="16" name="Rectangle 15">
            <a:extLst>
              <a:ext uri="{FF2B5EF4-FFF2-40B4-BE49-F238E27FC236}">
                <a16:creationId xmlns:a16="http://schemas.microsoft.com/office/drawing/2014/main" id="{52581D5C-242A-EA6C-A1F4-76E1275DE59D}"/>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2911" y="561500"/>
            <a:ext cx="5960388" cy="351472"/>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Pipeline B: Real-Time Stream Processing</a:t>
            </a:r>
            <a:endPar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 name="Text 1"/>
          <p:cNvSpPr/>
          <p:nvPr/>
        </p:nvSpPr>
        <p:spPr>
          <a:xfrm>
            <a:off x="431243" y="1458694"/>
            <a:ext cx="1686997" cy="210860"/>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Processing Flow</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 2"/>
          <p:cNvSpPr/>
          <p:nvPr/>
        </p:nvSpPr>
        <p:spPr>
          <a:xfrm>
            <a:off x="431243" y="1793260"/>
            <a:ext cx="5324713" cy="185499"/>
          </a:xfrm>
          <a:prstGeom prst="rect">
            <a:avLst/>
          </a:prstGeom>
          <a:noFill/>
          <a:ln/>
        </p:spPr>
        <p:txBody>
          <a:bodyPr wrap="none" lIns="0" tIns="0" rIns="0" bIns="0" rtlCol="0" anchor="t"/>
          <a:lstStyle/>
          <a:p>
            <a:pPr marL="342900" marR="0" lvl="0" indent="-342900" algn="l" defTabSz="914400" rtl="0" eaLnBrk="1" fontAlgn="auto" latinLnBrk="0" hangingPunct="1">
              <a:lnSpc>
                <a:spcPts val="1450"/>
              </a:lnSpc>
              <a:spcBef>
                <a:spcPts val="0"/>
              </a:spcBef>
              <a:spcAft>
                <a:spcPts val="0"/>
              </a:spcAft>
              <a:buClrTx/>
              <a:buSzPct val="100000"/>
              <a:buFont typeface="+mj-lt"/>
              <a:buAutoNum type="arabicPeriod"/>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Consume events from Kafka topic</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Text 3"/>
          <p:cNvSpPr/>
          <p:nvPr/>
        </p:nvSpPr>
        <p:spPr>
          <a:xfrm>
            <a:off x="432911" y="2093179"/>
            <a:ext cx="5324713" cy="185499"/>
          </a:xfrm>
          <a:prstGeom prst="rect">
            <a:avLst/>
          </a:prstGeom>
          <a:noFill/>
          <a:ln/>
        </p:spPr>
        <p:txBody>
          <a:bodyPr wrap="none" lIns="0" tIns="0" rIns="0" bIns="0" rtlCol="0" anchor="t"/>
          <a:lstStyle/>
          <a:p>
            <a:pPr marL="342900" marR="0" lvl="0" indent="-342900" algn="l" defTabSz="914400" rtl="0" eaLnBrk="1" fontAlgn="auto" latinLnBrk="0" hangingPunct="1">
              <a:lnSpc>
                <a:spcPts val="1450"/>
              </a:lnSpc>
              <a:spcBef>
                <a:spcPts val="0"/>
              </a:spcBef>
              <a:spcAft>
                <a:spcPts val="0"/>
              </a:spcAft>
              <a:buClrTx/>
              <a:buSzPct val="100000"/>
              <a:buFont typeface="+mj-lt"/>
              <a:buAutoNum type="arabicPeriod" startAt="2"/>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Parse and validate JSON schema</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Text 4"/>
          <p:cNvSpPr/>
          <p:nvPr/>
        </p:nvSpPr>
        <p:spPr>
          <a:xfrm>
            <a:off x="431241" y="2433994"/>
            <a:ext cx="5324713" cy="185499"/>
          </a:xfrm>
          <a:prstGeom prst="rect">
            <a:avLst/>
          </a:prstGeom>
          <a:noFill/>
          <a:ln/>
        </p:spPr>
        <p:txBody>
          <a:bodyPr wrap="none" lIns="0" tIns="0" rIns="0" bIns="0" rtlCol="0" anchor="t"/>
          <a:lstStyle/>
          <a:p>
            <a:pPr marL="342900" marR="0" lvl="0" indent="-342900" algn="l" defTabSz="914400" rtl="0" eaLnBrk="1" fontAlgn="auto" latinLnBrk="0" hangingPunct="1">
              <a:lnSpc>
                <a:spcPts val="1450"/>
              </a:lnSpc>
              <a:spcBef>
                <a:spcPts val="0"/>
              </a:spcBef>
              <a:spcAft>
                <a:spcPts val="0"/>
              </a:spcAft>
              <a:buClrTx/>
              <a:buSzPct val="100000"/>
              <a:buFont typeface="+mj-lt"/>
              <a:buAutoNum type="arabicPeriod" startAt="3"/>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Enrich with processing timestamps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Text 5"/>
          <p:cNvSpPr/>
          <p:nvPr/>
        </p:nvSpPr>
        <p:spPr>
          <a:xfrm>
            <a:off x="431242" y="2764096"/>
            <a:ext cx="5324713" cy="185499"/>
          </a:xfrm>
          <a:prstGeom prst="rect">
            <a:avLst/>
          </a:prstGeom>
          <a:noFill/>
          <a:ln/>
        </p:spPr>
        <p:txBody>
          <a:bodyPr wrap="none" lIns="0" tIns="0" rIns="0" bIns="0" rtlCol="0" anchor="t"/>
          <a:lstStyle/>
          <a:p>
            <a:pPr marL="342900" marR="0" lvl="0" indent="-342900" algn="l" defTabSz="914400" rtl="0" eaLnBrk="1" fontAlgn="auto" latinLnBrk="0" hangingPunct="1">
              <a:lnSpc>
                <a:spcPts val="1450"/>
              </a:lnSpc>
              <a:spcBef>
                <a:spcPts val="0"/>
              </a:spcBef>
              <a:spcAft>
                <a:spcPts val="0"/>
              </a:spcAft>
              <a:buClrTx/>
              <a:buSzPct val="100000"/>
              <a:buFont typeface="+mj-lt"/>
              <a:buAutoNum type="arabicPeriod" startAt="4"/>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Apply statistical anomaly detection</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 name="Text 6"/>
          <p:cNvSpPr/>
          <p:nvPr/>
        </p:nvSpPr>
        <p:spPr>
          <a:xfrm>
            <a:off x="431243" y="3108900"/>
            <a:ext cx="5324713" cy="185499"/>
          </a:xfrm>
          <a:prstGeom prst="rect">
            <a:avLst/>
          </a:prstGeom>
          <a:noFill/>
          <a:ln/>
        </p:spPr>
        <p:txBody>
          <a:bodyPr wrap="none" lIns="0" tIns="0" rIns="0" bIns="0" rtlCol="0" anchor="t"/>
          <a:lstStyle/>
          <a:p>
            <a:pPr marL="342900" marR="0" lvl="0" indent="-342900" algn="l" defTabSz="914400" rtl="0" eaLnBrk="1" fontAlgn="auto" latinLnBrk="0" hangingPunct="1">
              <a:lnSpc>
                <a:spcPts val="1450"/>
              </a:lnSpc>
              <a:spcBef>
                <a:spcPts val="0"/>
              </a:spcBef>
              <a:spcAft>
                <a:spcPts val="0"/>
              </a:spcAft>
              <a:buClrTx/>
              <a:buSzPct val="100000"/>
              <a:buFont typeface="+mj-lt"/>
              <a:buAutoNum type="arabicPeriod" startAt="5"/>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Dual-write to storage layers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 name="Shape 7"/>
          <p:cNvSpPr/>
          <p:nvPr/>
        </p:nvSpPr>
        <p:spPr>
          <a:xfrm>
            <a:off x="432911" y="4099560"/>
            <a:ext cx="6820376" cy="883563"/>
          </a:xfrm>
          <a:prstGeom prst="roundRect">
            <a:avLst>
              <a:gd name="adj" fmla="val 8279"/>
            </a:avLst>
          </a:prstGeom>
          <a:solidFill>
            <a:srgbClr val="FFFFFF"/>
          </a:solidFill>
          <a:ln/>
        </p:spPr>
      </p:sp>
      <p:sp>
        <p:nvSpPr>
          <p:cNvPr id="11" name="Shape 8"/>
          <p:cNvSpPr/>
          <p:nvPr/>
        </p:nvSpPr>
        <p:spPr>
          <a:xfrm>
            <a:off x="432911" y="4084320"/>
            <a:ext cx="6820376" cy="60960"/>
          </a:xfrm>
          <a:prstGeom prst="roundRect">
            <a:avLst>
              <a:gd name="adj" fmla="val 30441"/>
            </a:avLst>
          </a:prstGeom>
          <a:solidFill>
            <a:srgbClr val="2D2E34"/>
          </a:solidFill>
          <a:ln/>
        </p:spPr>
      </p:sp>
      <p:sp>
        <p:nvSpPr>
          <p:cNvPr id="12" name="Shape 9"/>
          <p:cNvSpPr/>
          <p:nvPr/>
        </p:nvSpPr>
        <p:spPr>
          <a:xfrm>
            <a:off x="3657540" y="3914061"/>
            <a:ext cx="371118" cy="371118"/>
          </a:xfrm>
          <a:prstGeom prst="roundRect">
            <a:avLst>
              <a:gd name="adj" fmla="val 246391"/>
            </a:avLst>
          </a:prstGeom>
          <a:solidFill>
            <a:srgbClr val="2D2E34"/>
          </a:solidFill>
          <a:ln/>
        </p:spPr>
      </p:sp>
      <p:sp>
        <p:nvSpPr>
          <p:cNvPr id="13" name="Text 10"/>
          <p:cNvSpPr/>
          <p:nvPr/>
        </p:nvSpPr>
        <p:spPr>
          <a:xfrm>
            <a:off x="3768864" y="4006810"/>
            <a:ext cx="148352" cy="185499"/>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Montserrat Bold" pitchFamily="34" charset="0"/>
                <a:ea typeface="Montserrat Bold" pitchFamily="34" charset="-122"/>
                <a:cs typeface="Montserrat Bold"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571857" y="4408765"/>
            <a:ext cx="1405771" cy="175736"/>
          </a:xfrm>
          <a:prstGeom prst="rect">
            <a:avLst/>
          </a:prstGeom>
          <a:noFill/>
          <a:ln/>
        </p:spPr>
        <p:txBody>
          <a:bodyPr wrap="non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Recent Data Store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571857" y="4658678"/>
            <a:ext cx="6542484"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JSON format in hot storage for low-latency API access to the most recent 50 readings per household.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432911" y="5564387"/>
            <a:ext cx="6820495" cy="883563"/>
          </a:xfrm>
          <a:prstGeom prst="roundRect">
            <a:avLst>
              <a:gd name="adj" fmla="val 8279"/>
            </a:avLst>
          </a:prstGeom>
          <a:solidFill>
            <a:srgbClr val="FFFFFF"/>
          </a:solidFill>
          <a:ln/>
        </p:spPr>
      </p:sp>
      <p:sp>
        <p:nvSpPr>
          <p:cNvPr id="17" name="Shape 14"/>
          <p:cNvSpPr/>
          <p:nvPr/>
        </p:nvSpPr>
        <p:spPr>
          <a:xfrm>
            <a:off x="432911" y="5549147"/>
            <a:ext cx="6820495" cy="60960"/>
          </a:xfrm>
          <a:prstGeom prst="roundRect">
            <a:avLst>
              <a:gd name="adj" fmla="val 30441"/>
            </a:avLst>
          </a:prstGeom>
          <a:solidFill>
            <a:srgbClr val="2D2E34"/>
          </a:solidFill>
          <a:ln/>
        </p:spPr>
      </p:sp>
      <p:sp>
        <p:nvSpPr>
          <p:cNvPr id="18" name="Shape 15"/>
          <p:cNvSpPr/>
          <p:nvPr/>
        </p:nvSpPr>
        <p:spPr>
          <a:xfrm>
            <a:off x="3657541" y="5378888"/>
            <a:ext cx="371118" cy="371118"/>
          </a:xfrm>
          <a:prstGeom prst="roundRect">
            <a:avLst>
              <a:gd name="adj" fmla="val 246391"/>
            </a:avLst>
          </a:prstGeom>
          <a:solidFill>
            <a:srgbClr val="2D2E34"/>
          </a:solidFill>
          <a:ln/>
        </p:spPr>
      </p:sp>
      <p:sp>
        <p:nvSpPr>
          <p:cNvPr id="19" name="Text 16"/>
          <p:cNvSpPr/>
          <p:nvPr/>
        </p:nvSpPr>
        <p:spPr>
          <a:xfrm>
            <a:off x="3768864" y="5471637"/>
            <a:ext cx="148352" cy="185499"/>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Montserrat Bold" pitchFamily="34" charset="0"/>
                <a:ea typeface="Montserrat Bold" pitchFamily="34" charset="-122"/>
                <a:cs typeface="Montserrat Bold"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571857" y="5873592"/>
            <a:ext cx="1405771" cy="175736"/>
          </a:xfrm>
          <a:prstGeom prst="rect">
            <a:avLst/>
          </a:prstGeom>
          <a:noFill/>
          <a:ln/>
        </p:spPr>
        <p:txBody>
          <a:bodyPr wrap="non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Historical Archive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71857" y="6123505"/>
            <a:ext cx="6542603"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Avro format in cold storage provides efficient compression and schema evolution for long-term analytics.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49509EF7-6BE3-89A6-5885-99A8DCF00B97}"/>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D91B0E44-E5D0-734E-BE66-A6DB9A054C87}"/>
              </a:ext>
            </a:extLst>
          </p:cNvPr>
          <p:cNvPicPr>
            <a:picLocks noChangeAspect="1"/>
          </p:cNvPicPr>
          <p:nvPr/>
        </p:nvPicPr>
        <p:blipFill>
          <a:blip r:embed="rId3"/>
          <a:stretch>
            <a:fillRect/>
          </a:stretch>
        </p:blipFill>
        <p:spPr>
          <a:xfrm>
            <a:off x="8685270" y="385242"/>
            <a:ext cx="5801535" cy="74591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3649" y="742355"/>
            <a:ext cx="7824668" cy="506254"/>
          </a:xfrm>
          <a:prstGeom prst="rect">
            <a:avLst/>
          </a:prstGeom>
          <a:noFill/>
          <a:ln/>
        </p:spPr>
        <p:txBody>
          <a:bodyPr wrap="none" lIns="0" tIns="0" rIns="0" bIns="0" rtlCol="0" anchor="t"/>
          <a:lstStyle/>
          <a:p>
            <a:pPr marL="0" marR="0" lvl="0" indent="0" algn="l" defTabSz="914400" rtl="0" eaLnBrk="1" fontAlgn="auto" latinLnBrk="0" hangingPunct="1">
              <a:lnSpc>
                <a:spcPts val="3950"/>
              </a:lnSpc>
              <a:spcBef>
                <a:spcPts val="0"/>
              </a:spcBef>
              <a:spcAft>
                <a:spcPts val="0"/>
              </a:spcAft>
              <a:buClrTx/>
              <a:buSzTx/>
              <a:buFontTx/>
              <a:buNone/>
              <a:tabLst/>
              <a:defRPr/>
            </a:pPr>
            <a:r>
              <a:rPr kumimoji="0" lang="en-US" sz="315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Pipeline C: Monthly Billing Batch Job</a:t>
            </a:r>
            <a:endParaRPr kumimoji="0" lang="en-US" sz="315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 1"/>
          <p:cNvSpPr/>
          <p:nvPr/>
        </p:nvSpPr>
        <p:spPr>
          <a:xfrm>
            <a:off x="623649" y="1515785"/>
            <a:ext cx="178118" cy="222647"/>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Montserrat Light" pitchFamily="34" charset="-122"/>
                <a:cs typeface="Times New Roman" panose="02020603050405020304" pitchFamily="18" charset="0"/>
              </a:rPr>
              <a:t>01</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Shape 2"/>
          <p:cNvSpPr/>
          <p:nvPr/>
        </p:nvSpPr>
        <p:spPr>
          <a:xfrm>
            <a:off x="623649" y="1795701"/>
            <a:ext cx="7896701" cy="22860"/>
          </a:xfrm>
          <a:prstGeom prst="rect">
            <a:avLst/>
          </a:prstGeom>
          <a:solidFill>
            <a:srgbClr val="2D2E34"/>
          </a:solidFill>
          <a:ln/>
        </p:spPr>
      </p:sp>
      <p:sp>
        <p:nvSpPr>
          <p:cNvPr id="6" name="Text 3"/>
          <p:cNvSpPr/>
          <p:nvPr/>
        </p:nvSpPr>
        <p:spPr>
          <a:xfrm>
            <a:off x="623649" y="1930479"/>
            <a:ext cx="2808208" cy="253127"/>
          </a:xfrm>
          <a:prstGeom prst="rect">
            <a:avLst/>
          </a:prstGeom>
          <a:noFill/>
          <a:ln/>
        </p:spPr>
        <p:txBody>
          <a:bodyPr wrap="non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Extract Consumption Data</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Text 4"/>
          <p:cNvSpPr/>
          <p:nvPr/>
        </p:nvSpPr>
        <p:spPr>
          <a:xfrm>
            <a:off x="623649" y="2290405"/>
            <a:ext cx="7896701" cy="267295"/>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Read month's Avro files from cold storage, leveraging partitioning for efficient data retrieval.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 name="Text 5"/>
          <p:cNvSpPr/>
          <p:nvPr/>
        </p:nvSpPr>
        <p:spPr>
          <a:xfrm>
            <a:off x="623649" y="2869406"/>
            <a:ext cx="178118" cy="222647"/>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Montserrat Light" pitchFamily="34" charset="-122"/>
                <a:cs typeface="Times New Roman" panose="02020603050405020304" pitchFamily="18" charset="0"/>
              </a:rPr>
              <a:t>02</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 name="Shape 6"/>
          <p:cNvSpPr/>
          <p:nvPr/>
        </p:nvSpPr>
        <p:spPr>
          <a:xfrm>
            <a:off x="623649" y="3149322"/>
            <a:ext cx="7896701" cy="22860"/>
          </a:xfrm>
          <a:prstGeom prst="rect">
            <a:avLst/>
          </a:prstGeom>
          <a:solidFill>
            <a:srgbClr val="2D2E34"/>
          </a:solidFill>
          <a:ln/>
        </p:spPr>
      </p:sp>
      <p:sp>
        <p:nvSpPr>
          <p:cNvPr id="10" name="Text 7"/>
          <p:cNvSpPr/>
          <p:nvPr/>
        </p:nvSpPr>
        <p:spPr>
          <a:xfrm>
            <a:off x="623649" y="3284101"/>
            <a:ext cx="2558653" cy="253127"/>
          </a:xfrm>
          <a:prstGeom prst="rect">
            <a:avLst/>
          </a:prstGeom>
          <a:noFill/>
          <a:ln/>
        </p:spPr>
        <p:txBody>
          <a:bodyPr wrap="non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Enrich with Master Data</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Text 8"/>
          <p:cNvSpPr/>
          <p:nvPr/>
        </p:nvSpPr>
        <p:spPr>
          <a:xfrm>
            <a:off x="623649" y="3644027"/>
            <a:ext cx="7896701" cy="267295"/>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Join with MySQL customer and rate tables to apply correct billing rates and account details.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2" name="Text 9"/>
          <p:cNvSpPr/>
          <p:nvPr/>
        </p:nvSpPr>
        <p:spPr>
          <a:xfrm>
            <a:off x="623649" y="4223028"/>
            <a:ext cx="178118" cy="222647"/>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Montserrat Light" pitchFamily="34" charset="-122"/>
                <a:cs typeface="Times New Roman" panose="02020603050405020304" pitchFamily="18" charset="0"/>
              </a:rPr>
              <a:t>03</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3" name="Shape 10"/>
          <p:cNvSpPr/>
          <p:nvPr/>
        </p:nvSpPr>
        <p:spPr>
          <a:xfrm>
            <a:off x="623649" y="4502944"/>
            <a:ext cx="7896701" cy="22860"/>
          </a:xfrm>
          <a:prstGeom prst="rect">
            <a:avLst/>
          </a:prstGeom>
          <a:solidFill>
            <a:srgbClr val="2D2E34"/>
          </a:solidFill>
          <a:ln/>
        </p:spPr>
      </p:sp>
      <p:sp>
        <p:nvSpPr>
          <p:cNvPr id="14" name="Text 11"/>
          <p:cNvSpPr/>
          <p:nvPr/>
        </p:nvSpPr>
        <p:spPr>
          <a:xfrm>
            <a:off x="623649" y="4637722"/>
            <a:ext cx="2379702" cy="253127"/>
          </a:xfrm>
          <a:prstGeom prst="rect">
            <a:avLst/>
          </a:prstGeom>
          <a:noFill/>
          <a:ln/>
        </p:spPr>
        <p:txBody>
          <a:bodyPr wrap="non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Aggregate &amp; Calculate</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5" name="Text 12"/>
          <p:cNvSpPr/>
          <p:nvPr/>
        </p:nvSpPr>
        <p:spPr>
          <a:xfrm>
            <a:off x="623649" y="4997648"/>
            <a:ext cx="7896701" cy="267295"/>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Sum consumption by household, apply tiered rates, and compute total charges including taxes.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 name="Text 13"/>
          <p:cNvSpPr/>
          <p:nvPr/>
        </p:nvSpPr>
        <p:spPr>
          <a:xfrm>
            <a:off x="623649" y="5576649"/>
            <a:ext cx="178118" cy="222647"/>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Montserrat Light" pitchFamily="34" charset="-122"/>
                <a:cs typeface="Times New Roman" panose="02020603050405020304" pitchFamily="18" charset="0"/>
              </a:rPr>
              <a:t>04</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7" name="Shape 14"/>
          <p:cNvSpPr/>
          <p:nvPr/>
        </p:nvSpPr>
        <p:spPr>
          <a:xfrm>
            <a:off x="623649" y="5856565"/>
            <a:ext cx="7896701" cy="22860"/>
          </a:xfrm>
          <a:prstGeom prst="rect">
            <a:avLst/>
          </a:prstGeom>
          <a:solidFill>
            <a:srgbClr val="2D2E34"/>
          </a:solidFill>
          <a:ln/>
        </p:spPr>
      </p:sp>
      <p:sp>
        <p:nvSpPr>
          <p:cNvPr id="18" name="Text 15"/>
          <p:cNvSpPr/>
          <p:nvPr/>
        </p:nvSpPr>
        <p:spPr>
          <a:xfrm>
            <a:off x="623649" y="5991344"/>
            <a:ext cx="2380536" cy="253127"/>
          </a:xfrm>
          <a:prstGeom prst="rect">
            <a:avLst/>
          </a:prstGeom>
          <a:noFill/>
          <a:ln/>
        </p:spPr>
        <p:txBody>
          <a:bodyPr wrap="non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Persist Billing Records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9" name="Text 16"/>
          <p:cNvSpPr/>
          <p:nvPr/>
        </p:nvSpPr>
        <p:spPr>
          <a:xfrm>
            <a:off x="623649" y="6351270"/>
            <a:ext cx="7896701" cy="267295"/>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Write results to billing_history table with full audit trail for compliance and dispute resolution.</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0" name="Text 17"/>
          <p:cNvSpPr/>
          <p:nvPr/>
        </p:nvSpPr>
        <p:spPr>
          <a:xfrm>
            <a:off x="623649" y="6952536"/>
            <a:ext cx="7896701" cy="534591"/>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Runs as a scheduled Spark batch job, processing millions of readings efficiently with fault tolerance and retry logic.</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22" name="Picture 21" descr="A diagram of a data flow&#10;&#10;AI-generated content may be incorrect.">
            <a:extLst>
              <a:ext uri="{FF2B5EF4-FFF2-40B4-BE49-F238E27FC236}">
                <a16:creationId xmlns:a16="http://schemas.microsoft.com/office/drawing/2014/main" id="{D211FF88-1B09-A3B9-18AF-53922DC29282}"/>
              </a:ext>
            </a:extLst>
          </p:cNvPr>
          <p:cNvPicPr>
            <a:picLocks noChangeAspect="1"/>
          </p:cNvPicPr>
          <p:nvPr/>
        </p:nvPicPr>
        <p:blipFill>
          <a:blip r:embed="rId3"/>
          <a:stretch>
            <a:fillRect/>
          </a:stretch>
        </p:blipFill>
        <p:spPr>
          <a:xfrm>
            <a:off x="9735631" y="1118769"/>
            <a:ext cx="4372585" cy="5992061"/>
          </a:xfrm>
          <a:prstGeom prst="rect">
            <a:avLst/>
          </a:prstGeom>
        </p:spPr>
      </p:pic>
      <p:sp>
        <p:nvSpPr>
          <p:cNvPr id="23" name="Rectangle 22">
            <a:extLst>
              <a:ext uri="{FF2B5EF4-FFF2-40B4-BE49-F238E27FC236}">
                <a16:creationId xmlns:a16="http://schemas.microsoft.com/office/drawing/2014/main" id="{BCADC71D-528E-9800-C248-73149E06A86F}"/>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30091" y="622578"/>
            <a:ext cx="10046256" cy="609838"/>
          </a:xfrm>
          <a:prstGeom prst="rect">
            <a:avLst/>
          </a:prstGeom>
          <a:noFill/>
          <a:ln/>
        </p:spPr>
        <p:txBody>
          <a:bodyPr wrap="none" lIns="0" tIns="0" rIns="0" bIns="0" rtlCol="0" anchor="t"/>
          <a:lstStyle/>
          <a:p>
            <a:pPr marL="0" marR="0" lvl="0" indent="0" algn="l" defTabSz="914400" rtl="0" eaLnBrk="1" fontAlgn="auto" latinLnBrk="0" hangingPunct="1">
              <a:lnSpc>
                <a:spcPts val="48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Pipeline D: Daily Analytics Aggregation</a:t>
            </a:r>
            <a:endPar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 1"/>
          <p:cNvSpPr/>
          <p:nvPr/>
        </p:nvSpPr>
        <p:spPr>
          <a:xfrm>
            <a:off x="730091" y="1318260"/>
            <a:ext cx="2927390" cy="365879"/>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Generated Metrics</a:t>
            </a:r>
            <a:endParaRPr kumimoji="0" lang="en-US" sz="2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5"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0091" y="2006084"/>
            <a:ext cx="536615" cy="536615"/>
          </a:xfrm>
          <a:prstGeom prst="rect">
            <a:avLst/>
          </a:prstGeom>
        </p:spPr>
      </p:pic>
      <p:sp>
        <p:nvSpPr>
          <p:cNvPr id="6" name="Text 2"/>
          <p:cNvSpPr/>
          <p:nvPr/>
        </p:nvSpPr>
        <p:spPr>
          <a:xfrm>
            <a:off x="1534954" y="2133481"/>
            <a:ext cx="2442329" cy="304919"/>
          </a:xfrm>
          <a:prstGeom prst="rect">
            <a:avLst/>
          </a:prstGeom>
          <a:noFill/>
          <a:ln/>
        </p:spPr>
        <p:txBody>
          <a:bodyPr wrap="non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Daily Consumption</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Text 3"/>
          <p:cNvSpPr/>
          <p:nvPr/>
        </p:nvSpPr>
        <p:spPr>
          <a:xfrm>
            <a:off x="1534954" y="2567107"/>
            <a:ext cx="3392210" cy="1287780"/>
          </a:xfrm>
          <a:prstGeom prst="rect">
            <a:avLst/>
          </a:prstGeom>
          <a:noFill/>
          <a:ln/>
        </p:spPr>
        <p:txBody>
          <a:bodyPr wrap="square" lIns="0" tIns="0" rIns="0" bIns="0" rtlCol="0" anchor="t"/>
          <a:lstStyle/>
          <a:p>
            <a:pPr marL="0" marR="0" lvl="0" indent="0" algn="l" defTabSz="914400" rtl="0" eaLnBrk="1" fontAlgn="auto" latinLnBrk="0" hangingPunct="1">
              <a:lnSpc>
                <a:spcPts val="2500"/>
              </a:lnSpc>
              <a:spcBef>
                <a:spcPts val="0"/>
              </a:spcBef>
              <a:spcAft>
                <a:spcPts val="0"/>
              </a:spcAft>
              <a:buClrTx/>
              <a:buSzTx/>
              <a:buFontTx/>
              <a:buNone/>
              <a:tabLst/>
              <a:defRPr/>
            </a:pPr>
            <a:r>
              <a:rPr kumimoji="0" lang="en-US"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Per-household usage patterns aggregated from raw meter readings, identifying trends and seasonal variations.</a:t>
            </a:r>
            <a:endPar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95411" y="2006084"/>
            <a:ext cx="536615" cy="536615"/>
          </a:xfrm>
          <a:prstGeom prst="rect">
            <a:avLst/>
          </a:prstGeom>
        </p:spPr>
      </p:pic>
      <p:sp>
        <p:nvSpPr>
          <p:cNvPr id="9" name="Text 4"/>
          <p:cNvSpPr/>
          <p:nvPr/>
        </p:nvSpPr>
        <p:spPr>
          <a:xfrm>
            <a:off x="6000274" y="2133481"/>
            <a:ext cx="2439472" cy="304919"/>
          </a:xfrm>
          <a:prstGeom prst="rect">
            <a:avLst/>
          </a:prstGeom>
          <a:noFill/>
          <a:ln/>
        </p:spPr>
        <p:txBody>
          <a:bodyPr wrap="non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Pressure Statistics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 name="Text 5"/>
          <p:cNvSpPr/>
          <p:nvPr/>
        </p:nvSpPr>
        <p:spPr>
          <a:xfrm>
            <a:off x="6000274" y="2567107"/>
            <a:ext cx="3392210" cy="1287780"/>
          </a:xfrm>
          <a:prstGeom prst="rect">
            <a:avLst/>
          </a:prstGeom>
          <a:noFill/>
          <a:ln/>
        </p:spPr>
        <p:txBody>
          <a:bodyPr wrap="square" lIns="0" tIns="0" rIns="0" bIns="0" rtlCol="0" anchor="t"/>
          <a:lstStyle/>
          <a:p>
            <a:pPr marL="0" marR="0" lvl="0" indent="0" algn="l" defTabSz="914400" rtl="0" eaLnBrk="1" fontAlgn="auto" latinLnBrk="0" hangingPunct="1">
              <a:lnSpc>
                <a:spcPts val="2500"/>
              </a:lnSpc>
              <a:spcBef>
                <a:spcPts val="0"/>
              </a:spcBef>
              <a:spcAft>
                <a:spcPts val="0"/>
              </a:spcAft>
              <a:buClrTx/>
              <a:buSzTx/>
              <a:buFontTx/>
              <a:buNone/>
              <a:tabLst/>
              <a:defRPr/>
            </a:pPr>
            <a:r>
              <a:rPr kumimoji="0" lang="en-US"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Min, max, and average pressure readings across the distribution network, flagging infrastructure issues.</a:t>
            </a:r>
            <a:endPar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60731" y="2006084"/>
            <a:ext cx="536615" cy="536615"/>
          </a:xfrm>
          <a:prstGeom prst="rect">
            <a:avLst/>
          </a:prstGeom>
        </p:spPr>
      </p:pic>
      <p:sp>
        <p:nvSpPr>
          <p:cNvPr id="12" name="Text 6"/>
          <p:cNvSpPr/>
          <p:nvPr/>
        </p:nvSpPr>
        <p:spPr>
          <a:xfrm>
            <a:off x="10465594" y="2133481"/>
            <a:ext cx="2439472" cy="304919"/>
          </a:xfrm>
          <a:prstGeom prst="rect">
            <a:avLst/>
          </a:prstGeom>
          <a:noFill/>
          <a:ln/>
        </p:spPr>
        <p:txBody>
          <a:bodyPr wrap="non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Anomaly Counts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3" name="Text 7"/>
          <p:cNvSpPr/>
          <p:nvPr/>
        </p:nvSpPr>
        <p:spPr>
          <a:xfrm>
            <a:off x="10465594" y="2567107"/>
            <a:ext cx="3392210" cy="965835"/>
          </a:xfrm>
          <a:prstGeom prst="rect">
            <a:avLst/>
          </a:prstGeom>
          <a:noFill/>
          <a:ln/>
        </p:spPr>
        <p:txBody>
          <a:bodyPr wrap="square" lIns="0" tIns="0" rIns="0" bIns="0" rtlCol="0" anchor="t"/>
          <a:lstStyle/>
          <a:p>
            <a:pPr marL="0" marR="0" lvl="0" indent="0" algn="l" defTabSz="914400" rtl="0" eaLnBrk="1" fontAlgn="auto" latinLnBrk="0" hangingPunct="1">
              <a:lnSpc>
                <a:spcPts val="2500"/>
              </a:lnSpc>
              <a:spcBef>
                <a:spcPts val="0"/>
              </a:spcBef>
              <a:spcAft>
                <a:spcPts val="0"/>
              </a:spcAft>
              <a:buClrTx/>
              <a:buSzTx/>
              <a:buFontTx/>
              <a:buNone/>
              <a:tabLst/>
              <a:defRPr/>
            </a:pPr>
            <a:r>
              <a:rPr kumimoji="0" lang="en-US"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Daily summary of detected spikes and drops by zone, enabling proactive maintenance scheduling.</a:t>
            </a:r>
            <a:endPar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8283CDD6-B408-A97D-6D61-DF715A0B968B}"/>
              </a:ext>
            </a:extLst>
          </p:cNvPr>
          <p:cNvPicPr>
            <a:picLocks noChangeAspect="1"/>
          </p:cNvPicPr>
          <p:nvPr/>
        </p:nvPicPr>
        <p:blipFill>
          <a:blip r:embed="rId9"/>
          <a:stretch>
            <a:fillRect/>
          </a:stretch>
        </p:blipFill>
        <p:spPr>
          <a:xfrm>
            <a:off x="1851850" y="4071366"/>
            <a:ext cx="10046256" cy="3704940"/>
          </a:xfrm>
          <a:prstGeom prst="rect">
            <a:avLst/>
          </a:prstGeom>
        </p:spPr>
      </p:pic>
      <p:sp>
        <p:nvSpPr>
          <p:cNvPr id="21" name="Rectangle 20">
            <a:extLst>
              <a:ext uri="{FF2B5EF4-FFF2-40B4-BE49-F238E27FC236}">
                <a16:creationId xmlns:a16="http://schemas.microsoft.com/office/drawing/2014/main" id="{12174D8D-B9D8-FD7F-760E-BD8FD673ADF5}"/>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80192" y="455890"/>
            <a:ext cx="5174575" cy="471011"/>
          </a:xfrm>
          <a:prstGeom prst="rect">
            <a:avLst/>
          </a:prstGeom>
          <a:noFill/>
          <a:ln/>
        </p:spPr>
        <p:txBody>
          <a:bodyPr wrap="none" lIns="0" tIns="0" rIns="0" bIns="0" rtlCol="0" anchor="t"/>
          <a:lstStyle/>
          <a:p>
            <a:pPr marL="0" marR="0" lvl="0" indent="0" algn="l" defTabSz="914400" rtl="0" eaLnBrk="1" fontAlgn="auto" latinLnBrk="0" hangingPunct="1">
              <a:lnSpc>
                <a:spcPts val="37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Play Framework API Layer</a:t>
            </a: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 name="Text 1"/>
          <p:cNvSpPr/>
          <p:nvPr/>
        </p:nvSpPr>
        <p:spPr>
          <a:xfrm>
            <a:off x="580192" y="1341239"/>
            <a:ext cx="2260759" cy="282535"/>
          </a:xfrm>
          <a:prstGeom prst="rect">
            <a:avLst/>
          </a:prstGeom>
          <a:noFill/>
          <a:ln/>
        </p:spPr>
        <p:txBody>
          <a:bodyPr wrap="none" lIns="0" tIns="0" rIns="0" bIns="0" rtlCol="0" anchor="t"/>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RESTful Endpoints</a:t>
            </a:r>
            <a:endPar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 2"/>
          <p:cNvSpPr/>
          <p:nvPr/>
        </p:nvSpPr>
        <p:spPr>
          <a:xfrm>
            <a:off x="580192" y="1789509"/>
            <a:ext cx="7226498" cy="263843"/>
          </a:xfrm>
          <a:prstGeom prst="rect">
            <a:avLst/>
          </a:prstGeom>
          <a:noFill/>
          <a:ln/>
        </p:spPr>
        <p:txBody>
          <a:bodyPr wrap="none" lIns="0" tIns="0" rIns="0" bIns="0" rtlCol="0" anchor="t"/>
          <a:lstStyle/>
          <a:p>
            <a:pPr marL="342900" marR="0" lvl="0" indent="-342900" algn="l" defTabSz="914400" rtl="0" eaLnBrk="1" fontAlgn="auto" latinLnBrk="0" hangingPunct="1">
              <a:lnSpc>
                <a:spcPts val="195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3D3838"/>
                </a:solidFill>
                <a:effectLst/>
                <a:highlight>
                  <a:srgbClr val="F2F2F2"/>
                </a:highlight>
                <a:uLnTx/>
                <a:uFillTx/>
                <a:latin typeface="Times New Roman" panose="02020603050405020304" pitchFamily="18" charset="0"/>
                <a:ea typeface="Consolas" pitchFamily="34" charset="-122"/>
                <a:cs typeface="Times New Roman" panose="02020603050405020304" pitchFamily="18" charset="0"/>
              </a:rPr>
              <a:t>/customer/{id}</a:t>
            </a:r>
            <a:r>
              <a:rPr kumimoji="0" lang="en-US" sz="14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 – Customer profile and account details</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Text 3"/>
          <p:cNvSpPr/>
          <p:nvPr/>
        </p:nvSpPr>
        <p:spPr>
          <a:xfrm>
            <a:off x="580192" y="2111335"/>
            <a:ext cx="7226498" cy="263843"/>
          </a:xfrm>
          <a:prstGeom prst="rect">
            <a:avLst/>
          </a:prstGeom>
          <a:noFill/>
          <a:ln/>
        </p:spPr>
        <p:txBody>
          <a:bodyPr wrap="none" lIns="0" tIns="0" rIns="0" bIns="0" rtlCol="0" anchor="t"/>
          <a:lstStyle/>
          <a:p>
            <a:pPr marL="342900" marR="0" lvl="0" indent="-342900" algn="l" defTabSz="914400" rtl="0" eaLnBrk="1" fontAlgn="auto" latinLnBrk="0" hangingPunct="1">
              <a:lnSpc>
                <a:spcPts val="195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3D3838"/>
                </a:solidFill>
                <a:effectLst/>
                <a:highlight>
                  <a:srgbClr val="F2F2F2"/>
                </a:highlight>
                <a:uLnTx/>
                <a:uFillTx/>
                <a:latin typeface="Times New Roman" panose="02020603050405020304" pitchFamily="18" charset="0"/>
                <a:ea typeface="Consolas" pitchFamily="34" charset="-122"/>
                <a:cs typeface="Times New Roman" panose="02020603050405020304" pitchFamily="18" charset="0"/>
              </a:rPr>
              <a:t>/household/{id}/recentReadings</a:t>
            </a:r>
            <a:r>
              <a:rPr kumimoji="0" lang="en-US" sz="14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 – Latest 50 meter readings (JSON)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Text 4"/>
          <p:cNvSpPr/>
          <p:nvPr/>
        </p:nvSpPr>
        <p:spPr>
          <a:xfrm>
            <a:off x="580192" y="2433161"/>
            <a:ext cx="7226498" cy="263843"/>
          </a:xfrm>
          <a:prstGeom prst="rect">
            <a:avLst/>
          </a:prstGeom>
          <a:noFill/>
          <a:ln/>
        </p:spPr>
        <p:txBody>
          <a:bodyPr wrap="none" lIns="0" tIns="0" rIns="0" bIns="0" rtlCol="0" anchor="t"/>
          <a:lstStyle/>
          <a:p>
            <a:pPr marL="342900" marR="0" lvl="0" indent="-342900" algn="l" defTabSz="914400" rtl="0" eaLnBrk="1" fontAlgn="auto" latinLnBrk="0" hangingPunct="1">
              <a:lnSpc>
                <a:spcPts val="195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3D3838"/>
                </a:solidFill>
                <a:effectLst/>
                <a:highlight>
                  <a:srgbClr val="F2F2F2"/>
                </a:highlight>
                <a:uLnTx/>
                <a:uFillTx/>
                <a:latin typeface="Times New Roman" panose="02020603050405020304" pitchFamily="18" charset="0"/>
                <a:ea typeface="Consolas" pitchFamily="34" charset="-122"/>
                <a:cs typeface="Times New Roman" panose="02020603050405020304" pitchFamily="18" charset="0"/>
              </a:rPr>
              <a:t>/household/{id}/dailyUsage</a:t>
            </a:r>
            <a:r>
              <a:rPr kumimoji="0" lang="en-US" sz="14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 – Aggregated consumption trends</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Text 5"/>
          <p:cNvSpPr/>
          <p:nvPr/>
        </p:nvSpPr>
        <p:spPr>
          <a:xfrm>
            <a:off x="580192" y="2754987"/>
            <a:ext cx="7226498" cy="263843"/>
          </a:xfrm>
          <a:prstGeom prst="rect">
            <a:avLst/>
          </a:prstGeom>
          <a:noFill/>
          <a:ln/>
        </p:spPr>
        <p:txBody>
          <a:bodyPr wrap="none" lIns="0" tIns="0" rIns="0" bIns="0" rtlCol="0" anchor="t"/>
          <a:lstStyle/>
          <a:p>
            <a:pPr marL="342900" marR="0" lvl="0" indent="-342900" algn="l" defTabSz="914400" rtl="0" eaLnBrk="1" fontAlgn="auto" latinLnBrk="0" hangingPunct="1">
              <a:lnSpc>
                <a:spcPts val="195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3D3838"/>
                </a:solidFill>
                <a:effectLst/>
                <a:highlight>
                  <a:srgbClr val="F2F2F2"/>
                </a:highlight>
                <a:uLnTx/>
                <a:uFillTx/>
                <a:latin typeface="Times New Roman" panose="02020603050405020304" pitchFamily="18" charset="0"/>
                <a:ea typeface="Consolas" pitchFamily="34" charset="-122"/>
                <a:cs typeface="Times New Roman" panose="02020603050405020304" pitchFamily="18" charset="0"/>
              </a:rPr>
              <a:t>/household/{id}/billing</a:t>
            </a:r>
            <a:r>
              <a:rPr kumimoji="0" lang="en-US" sz="14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 – Current and historical billing records</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 name="Shape 6"/>
          <p:cNvSpPr/>
          <p:nvPr/>
        </p:nvSpPr>
        <p:spPr>
          <a:xfrm>
            <a:off x="580192" y="3362386"/>
            <a:ext cx="4379476" cy="1412081"/>
          </a:xfrm>
          <a:prstGeom prst="roundRect">
            <a:avLst>
              <a:gd name="adj" fmla="val 1761"/>
            </a:avLst>
          </a:prstGeom>
          <a:solidFill>
            <a:srgbClr val="F2EEEE"/>
          </a:solidFill>
          <a:ln/>
        </p:spPr>
      </p:sp>
      <p:sp>
        <p:nvSpPr>
          <p:cNvPr id="12" name="Shape 9"/>
          <p:cNvSpPr/>
          <p:nvPr/>
        </p:nvSpPr>
        <p:spPr>
          <a:xfrm>
            <a:off x="580192" y="4990862"/>
            <a:ext cx="4379476" cy="1412081"/>
          </a:xfrm>
          <a:prstGeom prst="roundRect">
            <a:avLst>
              <a:gd name="adj" fmla="val 1761"/>
            </a:avLst>
          </a:prstGeom>
          <a:solidFill>
            <a:srgbClr val="F2EEEE"/>
          </a:solidFill>
          <a:ln/>
        </p:spPr>
      </p:sp>
      <p:sp>
        <p:nvSpPr>
          <p:cNvPr id="15" name="Shape 12"/>
          <p:cNvSpPr/>
          <p:nvPr/>
        </p:nvSpPr>
        <p:spPr>
          <a:xfrm>
            <a:off x="580192" y="6598503"/>
            <a:ext cx="4379595" cy="1412081"/>
          </a:xfrm>
          <a:prstGeom prst="roundRect">
            <a:avLst>
              <a:gd name="adj" fmla="val 1761"/>
            </a:avLst>
          </a:prstGeom>
          <a:solidFill>
            <a:srgbClr val="F2EEEE"/>
          </a:solidFill>
          <a:ln/>
        </p:spPr>
      </p:sp>
      <p:pic>
        <p:nvPicPr>
          <p:cNvPr id="19" name="Picture 18" descr="A diagram of a customer service&#10;&#10;AI-generated content may be incorrect.">
            <a:extLst>
              <a:ext uri="{FF2B5EF4-FFF2-40B4-BE49-F238E27FC236}">
                <a16:creationId xmlns:a16="http://schemas.microsoft.com/office/drawing/2014/main" id="{0EE4F356-DF75-AEFE-BEBC-0B0200E7C787}"/>
              </a:ext>
            </a:extLst>
          </p:cNvPr>
          <p:cNvPicPr>
            <a:picLocks noChangeAspect="1"/>
          </p:cNvPicPr>
          <p:nvPr/>
        </p:nvPicPr>
        <p:blipFill>
          <a:blip r:embed="rId3"/>
          <a:stretch>
            <a:fillRect/>
          </a:stretch>
        </p:blipFill>
        <p:spPr>
          <a:xfrm>
            <a:off x="6209125" y="522799"/>
            <a:ext cx="8421275" cy="7706801"/>
          </a:xfrm>
          <a:prstGeom prst="rect">
            <a:avLst/>
          </a:prstGeom>
        </p:spPr>
      </p:pic>
      <p:sp>
        <p:nvSpPr>
          <p:cNvPr id="20" name="Text 10"/>
          <p:cNvSpPr/>
          <p:nvPr/>
        </p:nvSpPr>
        <p:spPr>
          <a:xfrm>
            <a:off x="745927" y="3519369"/>
            <a:ext cx="2326481" cy="239554"/>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No Heavy Computation</a:t>
            </a:r>
            <a:endPar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1" name="Text 11"/>
          <p:cNvSpPr/>
          <p:nvPr/>
        </p:nvSpPr>
        <p:spPr>
          <a:xfrm>
            <a:off x="745927" y="3927515"/>
            <a:ext cx="3926434" cy="759023"/>
          </a:xfrm>
          <a:prstGeom prst="rect">
            <a:avLst/>
          </a:prstGeom>
          <a:noFill/>
          <a:ln/>
        </p:spPr>
        <p:txBody>
          <a:bodyPr wrap="squar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APIs serve pre-computed data, keeping response times consistently low.</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2" name="Text 12"/>
          <p:cNvSpPr/>
          <p:nvPr/>
        </p:nvSpPr>
        <p:spPr>
          <a:xfrm>
            <a:off x="745927" y="5155229"/>
            <a:ext cx="1916787" cy="239554"/>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Clean Separation</a:t>
            </a:r>
            <a:endPar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3" name="Text 13"/>
          <p:cNvSpPr/>
          <p:nvPr/>
        </p:nvSpPr>
        <p:spPr>
          <a:xfrm>
            <a:off x="745927" y="5563375"/>
            <a:ext cx="3926434" cy="759023"/>
          </a:xfrm>
          <a:prstGeom prst="rect">
            <a:avLst/>
          </a:prstGeom>
          <a:noFill/>
          <a:ln/>
        </p:spPr>
        <p:txBody>
          <a:bodyPr wrap="squar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Processing pipelines and API layer evolve independently without coupling.</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4" name="Text 14"/>
          <p:cNvSpPr/>
          <p:nvPr/>
        </p:nvSpPr>
        <p:spPr>
          <a:xfrm>
            <a:off x="745927" y="6894911"/>
            <a:ext cx="1916787" cy="239554"/>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Horizontal Scaling</a:t>
            </a:r>
            <a:endPar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 name="Text 15"/>
          <p:cNvSpPr/>
          <p:nvPr/>
        </p:nvSpPr>
        <p:spPr>
          <a:xfrm>
            <a:off x="745927" y="7303057"/>
            <a:ext cx="3926434" cy="506016"/>
          </a:xfrm>
          <a:prstGeom prst="rect">
            <a:avLst/>
          </a:prstGeom>
          <a:noFill/>
          <a:ln/>
        </p:spPr>
        <p:txBody>
          <a:bodyPr wrap="squar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Stateless design enables simple load balancing and auto-scaling.</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1400" y="588526"/>
            <a:ext cx="6584752" cy="585549"/>
          </a:xfrm>
          <a:prstGeom prst="rect">
            <a:avLst/>
          </a:prstGeom>
          <a:noFill/>
          <a:ln/>
        </p:spPr>
        <p:txBody>
          <a:bodyPr wrap="none" lIns="0" tIns="0" rIns="0" bIns="0" rtlCol="0" anchor="t"/>
          <a:lstStyle/>
          <a:p>
            <a:pPr marL="0" marR="0" lvl="0" indent="0" algn="l" defTabSz="914400" rtl="0" eaLnBrk="1" fontAlgn="auto" latinLnBrk="0" hangingPunct="1">
              <a:lnSpc>
                <a:spcPts val="4600"/>
              </a:lnSpc>
              <a:spcBef>
                <a:spcPts val="0"/>
              </a:spcBef>
              <a:spcAft>
                <a:spcPts val="0"/>
              </a:spcAft>
              <a:buClrTx/>
              <a:buSzTx/>
              <a:buFontTx/>
              <a:buNone/>
              <a:tabLst/>
              <a:defRPr/>
            </a:pPr>
            <a:r>
              <a:rPr kumimoji="0" lang="en-US" sz="365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Limitations &amp; Assumptions</a:t>
            </a:r>
            <a:endParaRPr kumimoji="0" lang="en-US" sz="365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 name="Text 1"/>
          <p:cNvSpPr/>
          <p:nvPr/>
        </p:nvSpPr>
        <p:spPr>
          <a:xfrm>
            <a:off x="721400" y="1689259"/>
            <a:ext cx="2862739" cy="351353"/>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Current Limitations</a:t>
            </a: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Shape 2"/>
          <p:cNvSpPr/>
          <p:nvPr/>
        </p:nvSpPr>
        <p:spPr>
          <a:xfrm>
            <a:off x="721400" y="2272427"/>
            <a:ext cx="6342340" cy="1574840"/>
          </a:xfrm>
          <a:prstGeom prst="roundRect">
            <a:avLst>
              <a:gd name="adj" fmla="val 6968"/>
            </a:avLst>
          </a:prstGeom>
          <a:solidFill>
            <a:srgbClr val="FFFFFF"/>
          </a:solidFill>
          <a:ln w="22860">
            <a:solidFill>
              <a:srgbClr val="D8D4D4"/>
            </a:solidFill>
            <a:prstDash val="solid"/>
          </a:ln>
        </p:spPr>
      </p:sp>
      <p:sp>
        <p:nvSpPr>
          <p:cNvPr id="5" name="Shape 3"/>
          <p:cNvSpPr/>
          <p:nvPr/>
        </p:nvSpPr>
        <p:spPr>
          <a:xfrm>
            <a:off x="698540" y="2272427"/>
            <a:ext cx="91440" cy="1574840"/>
          </a:xfrm>
          <a:prstGeom prst="roundRect">
            <a:avLst>
              <a:gd name="adj" fmla="val 33813"/>
            </a:avLst>
          </a:prstGeom>
          <a:solidFill>
            <a:srgbClr val="2D2E34"/>
          </a:solidFill>
          <a:ln/>
        </p:spPr>
      </p:sp>
      <p:sp>
        <p:nvSpPr>
          <p:cNvPr id="6" name="Text 4"/>
          <p:cNvSpPr/>
          <p:nvPr/>
        </p:nvSpPr>
        <p:spPr>
          <a:xfrm>
            <a:off x="1018937" y="2501384"/>
            <a:ext cx="3098959" cy="292656"/>
          </a:xfrm>
          <a:prstGeom prst="rect">
            <a:avLst/>
          </a:prstGeom>
          <a:noFill/>
          <a:ln/>
        </p:spPr>
        <p:txBody>
          <a:bodyPr wrap="none" lIns="0" tIns="0" rIns="0" bIns="0" rtlCol="0" anchor="t"/>
          <a:lstStyle/>
          <a:p>
            <a:pPr marL="0" marR="0" lvl="0" indent="0" algn="l" defTabSz="914400" rtl="0" eaLnBrk="1" fontAlgn="auto" latinLnBrk="0" hangingPunct="1">
              <a:lnSpc>
                <a:spcPts val="23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Basic Anomaly Detection</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Text 5"/>
          <p:cNvSpPr/>
          <p:nvPr/>
        </p:nvSpPr>
        <p:spPr>
          <a:xfrm>
            <a:off x="1018937" y="3000137"/>
            <a:ext cx="5815846" cy="618173"/>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Relies on statistical thresholds rather than sophisticated machine learning models for identifying unusual consumption patterns.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 name="Shape 6"/>
          <p:cNvSpPr/>
          <p:nvPr/>
        </p:nvSpPr>
        <p:spPr>
          <a:xfrm>
            <a:off x="721400" y="4053364"/>
            <a:ext cx="6342340" cy="1574840"/>
          </a:xfrm>
          <a:prstGeom prst="roundRect">
            <a:avLst>
              <a:gd name="adj" fmla="val 6968"/>
            </a:avLst>
          </a:prstGeom>
          <a:solidFill>
            <a:srgbClr val="FFFFFF"/>
          </a:solidFill>
          <a:ln w="22860">
            <a:solidFill>
              <a:srgbClr val="D8D4D4"/>
            </a:solidFill>
            <a:prstDash val="solid"/>
          </a:ln>
        </p:spPr>
      </p:sp>
      <p:sp>
        <p:nvSpPr>
          <p:cNvPr id="9" name="Shape 7"/>
          <p:cNvSpPr/>
          <p:nvPr/>
        </p:nvSpPr>
        <p:spPr>
          <a:xfrm>
            <a:off x="698540" y="4053364"/>
            <a:ext cx="91440" cy="1574840"/>
          </a:xfrm>
          <a:prstGeom prst="roundRect">
            <a:avLst>
              <a:gd name="adj" fmla="val 33813"/>
            </a:avLst>
          </a:prstGeom>
          <a:solidFill>
            <a:srgbClr val="2D2E34"/>
          </a:solidFill>
          <a:ln/>
        </p:spPr>
      </p:sp>
      <p:sp>
        <p:nvSpPr>
          <p:cNvPr id="10" name="Text 8"/>
          <p:cNvSpPr/>
          <p:nvPr/>
        </p:nvSpPr>
        <p:spPr>
          <a:xfrm>
            <a:off x="1018937" y="4282321"/>
            <a:ext cx="2342197" cy="292656"/>
          </a:xfrm>
          <a:prstGeom prst="rect">
            <a:avLst/>
          </a:prstGeom>
          <a:noFill/>
          <a:ln/>
        </p:spPr>
        <p:txBody>
          <a:bodyPr wrap="none" lIns="0" tIns="0" rIns="0" bIns="0" rtlCol="0" anchor="t"/>
          <a:lstStyle/>
          <a:p>
            <a:pPr marL="0" marR="0" lvl="0" indent="0" algn="l" defTabSz="914400" rtl="0" eaLnBrk="1" fontAlgn="auto" latinLnBrk="0" hangingPunct="1">
              <a:lnSpc>
                <a:spcPts val="23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Synthetic Data</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Text 9"/>
          <p:cNvSpPr/>
          <p:nvPr/>
        </p:nvSpPr>
        <p:spPr>
          <a:xfrm>
            <a:off x="1018937" y="4781074"/>
            <a:ext cx="5815846" cy="618173"/>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Simulation generates test data that may not capture the full complexity and variability of real-world meter readings.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2" name="Shape 10"/>
          <p:cNvSpPr/>
          <p:nvPr/>
        </p:nvSpPr>
        <p:spPr>
          <a:xfrm>
            <a:off x="721400" y="5834301"/>
            <a:ext cx="6342340" cy="1574840"/>
          </a:xfrm>
          <a:prstGeom prst="roundRect">
            <a:avLst>
              <a:gd name="adj" fmla="val 6968"/>
            </a:avLst>
          </a:prstGeom>
          <a:solidFill>
            <a:srgbClr val="FFFFFF"/>
          </a:solidFill>
          <a:ln w="22860">
            <a:solidFill>
              <a:srgbClr val="D8D4D4"/>
            </a:solidFill>
            <a:prstDash val="solid"/>
          </a:ln>
        </p:spPr>
      </p:sp>
      <p:sp>
        <p:nvSpPr>
          <p:cNvPr id="13" name="Shape 11"/>
          <p:cNvSpPr/>
          <p:nvPr/>
        </p:nvSpPr>
        <p:spPr>
          <a:xfrm>
            <a:off x="698540" y="5834301"/>
            <a:ext cx="91440" cy="1574840"/>
          </a:xfrm>
          <a:prstGeom prst="roundRect">
            <a:avLst>
              <a:gd name="adj" fmla="val 33813"/>
            </a:avLst>
          </a:prstGeom>
          <a:solidFill>
            <a:srgbClr val="2D2E34"/>
          </a:solidFill>
          <a:ln/>
        </p:spPr>
      </p:sp>
      <p:sp>
        <p:nvSpPr>
          <p:cNvPr id="14" name="Text 12"/>
          <p:cNvSpPr/>
          <p:nvPr/>
        </p:nvSpPr>
        <p:spPr>
          <a:xfrm>
            <a:off x="1018937" y="6063258"/>
            <a:ext cx="2851785" cy="292656"/>
          </a:xfrm>
          <a:prstGeom prst="rect">
            <a:avLst/>
          </a:prstGeom>
          <a:noFill/>
          <a:ln/>
        </p:spPr>
        <p:txBody>
          <a:bodyPr wrap="none" lIns="0" tIns="0" rIns="0" bIns="0" rtlCol="0" anchor="t"/>
          <a:lstStyle/>
          <a:p>
            <a:pPr marL="0" marR="0" lvl="0" indent="0" algn="l" defTabSz="914400" rtl="0" eaLnBrk="1" fontAlgn="auto" latinLnBrk="0" hangingPunct="1">
              <a:lnSpc>
                <a:spcPts val="23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No Predictive Analytics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5" name="Text 13"/>
          <p:cNvSpPr/>
          <p:nvPr/>
        </p:nvSpPr>
        <p:spPr>
          <a:xfrm>
            <a:off x="1018937" y="6562011"/>
            <a:ext cx="5815846" cy="618173"/>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Current implementation focuses on processing and storage without forecasting future consumption trends.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 name="Text 14"/>
          <p:cNvSpPr/>
          <p:nvPr/>
        </p:nvSpPr>
        <p:spPr>
          <a:xfrm>
            <a:off x="7574280" y="1689259"/>
            <a:ext cx="3091458" cy="351353"/>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System Assumptions</a:t>
            </a: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7" name="Shape 15"/>
          <p:cNvSpPr/>
          <p:nvPr/>
        </p:nvSpPr>
        <p:spPr>
          <a:xfrm>
            <a:off x="7574280" y="2272427"/>
            <a:ext cx="6342340" cy="1574840"/>
          </a:xfrm>
          <a:prstGeom prst="roundRect">
            <a:avLst>
              <a:gd name="adj" fmla="val 6968"/>
            </a:avLst>
          </a:prstGeom>
          <a:solidFill>
            <a:srgbClr val="FFFFFF"/>
          </a:solidFill>
          <a:ln w="22860">
            <a:solidFill>
              <a:srgbClr val="D8D4D4"/>
            </a:solidFill>
            <a:prstDash val="solid"/>
          </a:ln>
        </p:spPr>
      </p:sp>
      <p:sp>
        <p:nvSpPr>
          <p:cNvPr id="18" name="Shape 16"/>
          <p:cNvSpPr/>
          <p:nvPr/>
        </p:nvSpPr>
        <p:spPr>
          <a:xfrm>
            <a:off x="7551420" y="2272427"/>
            <a:ext cx="91440" cy="1574840"/>
          </a:xfrm>
          <a:prstGeom prst="roundRect">
            <a:avLst>
              <a:gd name="adj" fmla="val 33813"/>
            </a:avLst>
          </a:prstGeom>
          <a:solidFill>
            <a:srgbClr val="2D2E34"/>
          </a:solidFill>
          <a:ln/>
        </p:spPr>
      </p:sp>
      <p:sp>
        <p:nvSpPr>
          <p:cNvPr id="19" name="Text 17"/>
          <p:cNvSpPr/>
          <p:nvPr/>
        </p:nvSpPr>
        <p:spPr>
          <a:xfrm>
            <a:off x="7871817" y="2501384"/>
            <a:ext cx="2342197" cy="292656"/>
          </a:xfrm>
          <a:prstGeom prst="rect">
            <a:avLst/>
          </a:prstGeom>
          <a:noFill/>
          <a:ln/>
        </p:spPr>
        <p:txBody>
          <a:bodyPr wrap="none" lIns="0" tIns="0" rIns="0" bIns="0" rtlCol="0" anchor="t"/>
          <a:lstStyle/>
          <a:p>
            <a:pPr marL="0" marR="0" lvl="0" indent="0" algn="l" defTabSz="914400" rtl="0" eaLnBrk="1" fontAlgn="auto" latinLnBrk="0" hangingPunct="1">
              <a:lnSpc>
                <a:spcPts val="23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Data Reliability</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0" name="Text 18"/>
          <p:cNvSpPr/>
          <p:nvPr/>
        </p:nvSpPr>
        <p:spPr>
          <a:xfrm>
            <a:off x="7871817" y="3000137"/>
            <a:ext cx="5815846" cy="618173"/>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Assumes meter devices consistently transmit accurate readings without significant gaps or transmission errors.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1" name="Shape 19"/>
          <p:cNvSpPr/>
          <p:nvPr/>
        </p:nvSpPr>
        <p:spPr>
          <a:xfrm>
            <a:off x="7574280" y="4053364"/>
            <a:ext cx="6342340" cy="1574840"/>
          </a:xfrm>
          <a:prstGeom prst="roundRect">
            <a:avLst>
              <a:gd name="adj" fmla="val 6968"/>
            </a:avLst>
          </a:prstGeom>
          <a:solidFill>
            <a:srgbClr val="FFFFFF"/>
          </a:solidFill>
          <a:ln w="22860">
            <a:solidFill>
              <a:srgbClr val="D8D4D4"/>
            </a:solidFill>
            <a:prstDash val="solid"/>
          </a:ln>
        </p:spPr>
      </p:sp>
      <p:sp>
        <p:nvSpPr>
          <p:cNvPr id="22" name="Shape 20"/>
          <p:cNvSpPr/>
          <p:nvPr/>
        </p:nvSpPr>
        <p:spPr>
          <a:xfrm>
            <a:off x="7551420" y="4053364"/>
            <a:ext cx="91440" cy="1574840"/>
          </a:xfrm>
          <a:prstGeom prst="roundRect">
            <a:avLst>
              <a:gd name="adj" fmla="val 33813"/>
            </a:avLst>
          </a:prstGeom>
          <a:solidFill>
            <a:srgbClr val="2D2E34"/>
          </a:solidFill>
          <a:ln/>
        </p:spPr>
      </p:sp>
      <p:sp>
        <p:nvSpPr>
          <p:cNvPr id="23" name="Text 21"/>
          <p:cNvSpPr/>
          <p:nvPr/>
        </p:nvSpPr>
        <p:spPr>
          <a:xfrm>
            <a:off x="7871817" y="4282321"/>
            <a:ext cx="2342197" cy="292656"/>
          </a:xfrm>
          <a:prstGeom prst="rect">
            <a:avLst/>
          </a:prstGeom>
          <a:noFill/>
          <a:ln/>
        </p:spPr>
        <p:txBody>
          <a:bodyPr wrap="none" lIns="0" tIns="0" rIns="0" bIns="0" rtlCol="0" anchor="t"/>
          <a:lstStyle/>
          <a:p>
            <a:pPr marL="0" marR="0" lvl="0" indent="0" algn="l" defTabSz="914400" rtl="0" eaLnBrk="1" fontAlgn="auto" latinLnBrk="0" hangingPunct="1">
              <a:lnSpc>
                <a:spcPts val="23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Fixed Schedules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4" name="Text 22"/>
          <p:cNvSpPr/>
          <p:nvPr/>
        </p:nvSpPr>
        <p:spPr>
          <a:xfrm>
            <a:off x="7871817" y="4781074"/>
            <a:ext cx="5815846" cy="618173"/>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838"/>
                </a:solidFill>
                <a:effectLst/>
                <a:uLnTx/>
                <a:uFillTx/>
                <a:latin typeface="Times New Roman" panose="02020603050405020304" pitchFamily="18" charset="0"/>
                <a:ea typeface="Source Sans 3" pitchFamily="34" charset="-122"/>
                <a:cs typeface="Times New Roman" panose="02020603050405020304" pitchFamily="18" charset="0"/>
              </a:rPr>
              <a:t>Batch processing windows operate on predetermined intervals without dynamic adjustment based on data arrival patterns.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C629D6C7-09B2-3A63-F9F9-FF26DB109F50}"/>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9028" y="784741"/>
            <a:ext cx="6064806" cy="648533"/>
          </a:xfrm>
          <a:prstGeom prst="rect">
            <a:avLst/>
          </a:prstGeom>
          <a:noFill/>
          <a:ln/>
        </p:spPr>
        <p:txBody>
          <a:bodyPr wrap="none" lIns="0" tIns="0" rIns="0" bIns="0" rtlCol="0" anchor="t"/>
          <a:lstStyle/>
          <a:p>
            <a:pPr marL="0" marR="0" lvl="0" indent="0" algn="l" defTabSz="914400" rtl="0" eaLnBrk="1" fontAlgn="auto" latinLnBrk="0" hangingPunct="1">
              <a:lnSpc>
                <a:spcPts val="5100"/>
              </a:lnSpc>
              <a:spcBef>
                <a:spcPts val="0"/>
              </a:spcBef>
              <a:spcAft>
                <a:spcPts val="0"/>
              </a:spcAft>
              <a:buClrTx/>
              <a:buSzTx/>
              <a:buFontTx/>
              <a:buNone/>
              <a:tabLst/>
              <a:defRPr/>
            </a:pPr>
            <a:r>
              <a:rPr kumimoji="0" lang="en-US" sz="405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Future Enhancements</a:t>
            </a:r>
            <a:endParaRPr kumimoji="0" lang="en-US" sz="4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99028" y="1889879"/>
            <a:ext cx="13032343" cy="685086"/>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The roadmap focuses on advancing analytics capabilities, operational resilience, and user experience while maintaining the platform's core architectural principles.</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99028" y="2831783"/>
            <a:ext cx="228243" cy="285274"/>
          </a:xfrm>
          <a:prstGeom prst="rect">
            <a:avLst/>
          </a:prstGeom>
          <a:noFill/>
          <a:ln/>
        </p:spPr>
        <p:txBody>
          <a:bodyPr wrap="non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Montserrat Light" pitchFamily="34" charset="0"/>
                <a:ea typeface="Montserrat Light" pitchFamily="34" charset="-122"/>
                <a:cs typeface="Montserrat Light" pitchFamily="34" charset="-120"/>
              </a:rPr>
              <a:t>01</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99028" y="3189208"/>
            <a:ext cx="4191952" cy="30480"/>
          </a:xfrm>
          <a:prstGeom prst="rect">
            <a:avLst/>
          </a:prstGeom>
          <a:solidFill>
            <a:srgbClr val="2D2E34"/>
          </a:solidFill>
          <a:ln/>
        </p:spPr>
      </p:sp>
      <p:sp>
        <p:nvSpPr>
          <p:cNvPr id="6" name="Text 4"/>
          <p:cNvSpPr/>
          <p:nvPr/>
        </p:nvSpPr>
        <p:spPr>
          <a:xfrm>
            <a:off x="799028" y="3364230"/>
            <a:ext cx="4049316" cy="324207"/>
          </a:xfrm>
          <a:prstGeom prst="rect">
            <a:avLst/>
          </a:prstGeom>
          <a:noFill/>
          <a:ln/>
        </p:spPr>
        <p:txBody>
          <a:bodyPr wrap="non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ML-Based Anomaly Detection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99028" y="3825359"/>
            <a:ext cx="4191952" cy="1370171"/>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Deploy advanced machine learning models to identify complex consumption patterns and predict equipment failures before they occur.</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219224" y="2831783"/>
            <a:ext cx="228243" cy="285274"/>
          </a:xfrm>
          <a:prstGeom prst="rect">
            <a:avLst/>
          </a:prstGeom>
          <a:noFill/>
          <a:ln/>
        </p:spPr>
        <p:txBody>
          <a:bodyPr wrap="non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Montserrat Light" pitchFamily="34" charset="0"/>
                <a:ea typeface="Montserrat Light" pitchFamily="34" charset="-122"/>
                <a:cs typeface="Montserrat Light" pitchFamily="34" charset="-120"/>
              </a:rPr>
              <a:t>02</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219224" y="3189208"/>
            <a:ext cx="4191952" cy="30480"/>
          </a:xfrm>
          <a:prstGeom prst="rect">
            <a:avLst/>
          </a:prstGeom>
          <a:solidFill>
            <a:srgbClr val="2D2E34"/>
          </a:solidFill>
          <a:ln/>
        </p:spPr>
      </p:sp>
      <p:sp>
        <p:nvSpPr>
          <p:cNvPr id="10" name="Text 8"/>
          <p:cNvSpPr/>
          <p:nvPr/>
        </p:nvSpPr>
        <p:spPr>
          <a:xfrm>
            <a:off x="5219224" y="3364230"/>
            <a:ext cx="2594372" cy="324207"/>
          </a:xfrm>
          <a:prstGeom prst="rect">
            <a:avLst/>
          </a:prstGeom>
          <a:noFill/>
          <a:ln/>
        </p:spPr>
        <p:txBody>
          <a:bodyPr wrap="non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Real-Time Alerting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219224" y="3825359"/>
            <a:ext cx="4191952" cy="1370171"/>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Implement event-driven notifications for critical anomalies, enabling immediate response to unusual meter behavior or system issues.</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9639419" y="2831783"/>
            <a:ext cx="228243" cy="285274"/>
          </a:xfrm>
          <a:prstGeom prst="rect">
            <a:avLst/>
          </a:prstGeom>
          <a:noFill/>
          <a:ln/>
        </p:spPr>
        <p:txBody>
          <a:bodyPr wrap="non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Montserrat Light" pitchFamily="34" charset="0"/>
                <a:ea typeface="Montserrat Light" pitchFamily="34" charset="-122"/>
                <a:cs typeface="Montserrat Light" pitchFamily="34" charset="-120"/>
              </a:rPr>
              <a:t>03</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9639419" y="3189208"/>
            <a:ext cx="4191952" cy="30480"/>
          </a:xfrm>
          <a:prstGeom prst="rect">
            <a:avLst/>
          </a:prstGeom>
          <a:solidFill>
            <a:srgbClr val="2D2E34"/>
          </a:solidFill>
          <a:ln/>
        </p:spPr>
      </p:sp>
      <p:sp>
        <p:nvSpPr>
          <p:cNvPr id="14" name="Text 12"/>
          <p:cNvSpPr/>
          <p:nvPr/>
        </p:nvSpPr>
        <p:spPr>
          <a:xfrm>
            <a:off x="9639419" y="3364230"/>
            <a:ext cx="3019782" cy="324207"/>
          </a:xfrm>
          <a:prstGeom prst="rect">
            <a:avLst/>
          </a:prstGeom>
          <a:noFill/>
          <a:ln/>
        </p:spPr>
        <p:txBody>
          <a:bodyPr wrap="non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Interactive Dashboard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9639419" y="3825359"/>
            <a:ext cx="4191952" cy="1027628"/>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Build visualization layer providing stakeholders with self-service analytics and customizable reporting capabilities.</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99028" y="5594985"/>
            <a:ext cx="228243" cy="285274"/>
          </a:xfrm>
          <a:prstGeom prst="rect">
            <a:avLst/>
          </a:prstGeom>
          <a:noFill/>
          <a:ln/>
        </p:spPr>
        <p:txBody>
          <a:bodyPr wrap="non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Montserrat Light" pitchFamily="34" charset="0"/>
                <a:ea typeface="Montserrat Light" pitchFamily="34" charset="-122"/>
                <a:cs typeface="Montserrat Light" pitchFamily="34" charset="-120"/>
              </a:rPr>
              <a:t>04</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99028" y="5952411"/>
            <a:ext cx="6401991" cy="30480"/>
          </a:xfrm>
          <a:prstGeom prst="rect">
            <a:avLst/>
          </a:prstGeom>
          <a:solidFill>
            <a:srgbClr val="2D2E34"/>
          </a:solidFill>
          <a:ln/>
        </p:spPr>
      </p:sp>
      <p:sp>
        <p:nvSpPr>
          <p:cNvPr id="18" name="Text 16"/>
          <p:cNvSpPr/>
          <p:nvPr/>
        </p:nvSpPr>
        <p:spPr>
          <a:xfrm>
            <a:off x="799028" y="6127433"/>
            <a:ext cx="3393996" cy="324207"/>
          </a:xfrm>
          <a:prstGeom prst="rect">
            <a:avLst/>
          </a:prstGeom>
          <a:noFill/>
          <a:ln/>
        </p:spPr>
        <p:txBody>
          <a:bodyPr wrap="non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Kubernetes Auto-Scaling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799028" y="6588562"/>
            <a:ext cx="6401991" cy="685086"/>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Enable dynamic resource allocation based on workload demands, optimizing infrastructure costs while maintaining performance.</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429262" y="5594985"/>
            <a:ext cx="228243" cy="285274"/>
          </a:xfrm>
          <a:prstGeom prst="rect">
            <a:avLst/>
          </a:prstGeom>
          <a:noFill/>
          <a:ln/>
        </p:spPr>
        <p:txBody>
          <a:bodyPr wrap="non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Montserrat Light" pitchFamily="34" charset="0"/>
                <a:ea typeface="Montserrat Light" pitchFamily="34" charset="-122"/>
                <a:cs typeface="Montserrat Light" pitchFamily="34" charset="-120"/>
              </a:rPr>
              <a:t>05</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429262" y="5952411"/>
            <a:ext cx="6402110" cy="30480"/>
          </a:xfrm>
          <a:prstGeom prst="rect">
            <a:avLst/>
          </a:prstGeom>
          <a:solidFill>
            <a:srgbClr val="2D2E34"/>
          </a:solidFill>
          <a:ln/>
        </p:spPr>
      </p:sp>
      <p:sp>
        <p:nvSpPr>
          <p:cNvPr id="22" name="Text 20"/>
          <p:cNvSpPr/>
          <p:nvPr/>
        </p:nvSpPr>
        <p:spPr>
          <a:xfrm>
            <a:off x="7429262" y="6127433"/>
            <a:ext cx="3890843" cy="324207"/>
          </a:xfrm>
          <a:prstGeom prst="rect">
            <a:avLst/>
          </a:prstGeom>
          <a:noFill/>
          <a:ln/>
        </p:spPr>
        <p:txBody>
          <a:bodyPr wrap="non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Schema Registry Integration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7429262" y="6588562"/>
            <a:ext cx="6402110" cy="685086"/>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Centralize schema management for robust versioning, compatibility checking, and seamless evolution of data contracts.</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B2EACD0-21CA-5B6C-1FFC-41091D36AAEA}"/>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9748" y="660083"/>
            <a:ext cx="5453182" cy="681633"/>
          </a:xfrm>
          <a:prstGeom prst="rect">
            <a:avLst/>
          </a:prstGeom>
          <a:noFill/>
          <a:ln/>
        </p:spPr>
        <p:txBody>
          <a:bodyPr wrap="none" lIns="0" tIns="0" rIns="0" bIns="0" rtlCol="0" anchor="t"/>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n-US" sz="425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Key Learnings</a:t>
            </a:r>
            <a:endParaRPr kumimoji="0" lang="en-US" sz="4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839748" y="1821537"/>
            <a:ext cx="4156948" cy="3464123"/>
          </a:xfrm>
          <a:prstGeom prst="roundRect">
            <a:avLst>
              <a:gd name="adj" fmla="val 1039"/>
            </a:avLst>
          </a:prstGeom>
          <a:solidFill>
            <a:srgbClr val="F2EEEE"/>
          </a:solidFill>
          <a:ln/>
        </p:spPr>
      </p:sp>
      <p:sp>
        <p:nvSpPr>
          <p:cNvPr id="4" name="Text 2"/>
          <p:cNvSpPr/>
          <p:nvPr/>
        </p:nvSpPr>
        <p:spPr>
          <a:xfrm>
            <a:off x="1079659" y="2061448"/>
            <a:ext cx="3677126" cy="681514"/>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End-to-End Pipeline Design</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79659" y="2886908"/>
            <a:ext cx="3677126" cy="2158841"/>
          </a:xfrm>
          <a:prstGeom prst="rect">
            <a:avLst/>
          </a:prstGeom>
          <a:noFill/>
          <a:ln/>
        </p:spPr>
        <p:txBody>
          <a:bodyPr wrap="square" lIns="0" tIns="0" rIns="0" bIns="0" rtlCol="0" anchor="t"/>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18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Mastered the integration of streaming and batch processing paradigms within a unified architecture, balancing real-time responsiveness with analytical depth.</a:t>
            </a:r>
            <a:endParaRPr kumimoji="0" lang="en-US" sz="1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236607" y="1821537"/>
            <a:ext cx="4157067" cy="3464123"/>
          </a:xfrm>
          <a:prstGeom prst="roundRect">
            <a:avLst>
              <a:gd name="adj" fmla="val 1039"/>
            </a:avLst>
          </a:prstGeom>
          <a:solidFill>
            <a:srgbClr val="F2EEEE"/>
          </a:solidFill>
          <a:ln/>
        </p:spPr>
      </p:sp>
      <p:sp>
        <p:nvSpPr>
          <p:cNvPr id="7" name="Text 5"/>
          <p:cNvSpPr/>
          <p:nvPr/>
        </p:nvSpPr>
        <p:spPr>
          <a:xfrm>
            <a:off x="5476518" y="2061448"/>
            <a:ext cx="3677245" cy="681514"/>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Streaming + Batch Integration</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476518" y="2886908"/>
            <a:ext cx="3677245" cy="1799034"/>
          </a:xfrm>
          <a:prstGeom prst="rect">
            <a:avLst/>
          </a:prstGeom>
          <a:noFill/>
          <a:ln/>
        </p:spPr>
        <p:txBody>
          <a:bodyPr wrap="square" lIns="0" tIns="0" rIns="0" bIns="0" rtlCol="0" anchor="t"/>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18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Developed expertise in lambda architecture patterns, coordinating stateful stream processing with periodic batch aggregations for comprehensive data coverage.</a:t>
            </a:r>
            <a:endParaRPr kumimoji="0" lang="en-US" sz="1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9633585" y="1821537"/>
            <a:ext cx="4156948" cy="3464123"/>
          </a:xfrm>
          <a:prstGeom prst="roundRect">
            <a:avLst>
              <a:gd name="adj" fmla="val 1039"/>
            </a:avLst>
          </a:prstGeom>
          <a:solidFill>
            <a:srgbClr val="F2EEEE"/>
          </a:solidFill>
          <a:ln/>
        </p:spPr>
      </p:sp>
      <p:sp>
        <p:nvSpPr>
          <p:cNvPr id="10" name="Text 8"/>
          <p:cNvSpPr/>
          <p:nvPr/>
        </p:nvSpPr>
        <p:spPr>
          <a:xfrm>
            <a:off x="9873496" y="2061448"/>
            <a:ext cx="3677126" cy="681514"/>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Storage Format Trade-offs</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873496" y="2886908"/>
            <a:ext cx="3677126" cy="1799034"/>
          </a:xfrm>
          <a:prstGeom prst="rect">
            <a:avLst/>
          </a:prstGeom>
          <a:noFill/>
          <a:ln/>
        </p:spPr>
        <p:txBody>
          <a:bodyPr wrap="square" lIns="0" tIns="0" rIns="0" bIns="0" rtlCol="0" anchor="t"/>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18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Evaluated JSON, Avro, and Parquet characteristics, selecting optimal formats based on query patterns, compression needs, and schema evolution requirements.</a:t>
            </a:r>
            <a:endParaRPr kumimoji="0" lang="en-US" sz="1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839748" y="5525572"/>
            <a:ext cx="6355437" cy="2043946"/>
          </a:xfrm>
          <a:prstGeom prst="roundRect">
            <a:avLst>
              <a:gd name="adj" fmla="val 1761"/>
            </a:avLst>
          </a:prstGeom>
          <a:solidFill>
            <a:srgbClr val="F2EEEE"/>
          </a:solidFill>
          <a:ln/>
        </p:spPr>
      </p:sp>
      <p:sp>
        <p:nvSpPr>
          <p:cNvPr id="13" name="Text 11"/>
          <p:cNvSpPr/>
          <p:nvPr/>
        </p:nvSpPr>
        <p:spPr>
          <a:xfrm>
            <a:off x="1079659" y="5765483"/>
            <a:ext cx="3838694" cy="340757"/>
          </a:xfrm>
          <a:prstGeom prst="rect">
            <a:avLst/>
          </a:prstGeom>
          <a:noFill/>
          <a:ln/>
        </p:spPr>
        <p:txBody>
          <a:bodyPr wrap="non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Spark Performance Tuning</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079659" y="6250186"/>
            <a:ext cx="5875615" cy="1079421"/>
          </a:xfrm>
          <a:prstGeom prst="rect">
            <a:avLst/>
          </a:prstGeom>
          <a:noFill/>
          <a:ln/>
        </p:spPr>
        <p:txBody>
          <a:bodyPr wrap="square" lIns="0" tIns="0" rIns="0" bIns="0" rtlCol="0" anchor="t"/>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18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Applied partitioning strategies, memory configuration, and shuffle optimization techniques to achieve production-grade throughput and latency targets.</a:t>
            </a:r>
            <a:endParaRPr kumimoji="0" lang="en-US" sz="1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435096" y="5525572"/>
            <a:ext cx="6355437" cy="2043946"/>
          </a:xfrm>
          <a:prstGeom prst="roundRect">
            <a:avLst>
              <a:gd name="adj" fmla="val 1761"/>
            </a:avLst>
          </a:prstGeom>
          <a:solidFill>
            <a:srgbClr val="F2EEEE"/>
          </a:solidFill>
          <a:ln/>
        </p:spPr>
      </p:sp>
      <p:sp>
        <p:nvSpPr>
          <p:cNvPr id="16" name="Text 14"/>
          <p:cNvSpPr/>
          <p:nvPr/>
        </p:nvSpPr>
        <p:spPr>
          <a:xfrm>
            <a:off x="7675007" y="5765483"/>
            <a:ext cx="3359348" cy="340757"/>
          </a:xfrm>
          <a:prstGeom prst="rect">
            <a:avLst/>
          </a:prstGeom>
          <a:noFill/>
          <a:ln/>
        </p:spPr>
        <p:txBody>
          <a:bodyPr wrap="non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3D3838"/>
                </a:solidFill>
                <a:effectLst/>
                <a:uLnTx/>
                <a:uFillTx/>
                <a:latin typeface="Montserrat Bold" pitchFamily="34" charset="0"/>
                <a:ea typeface="Montserrat Bold" pitchFamily="34" charset="-122"/>
                <a:cs typeface="Montserrat Bold" pitchFamily="34" charset="-120"/>
              </a:rPr>
              <a:t>API-Driven Data Access</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675007" y="6250186"/>
            <a:ext cx="5875615" cy="1079421"/>
          </a:xfrm>
          <a:prstGeom prst="rect">
            <a:avLst/>
          </a:prstGeom>
          <a:noFill/>
          <a:ln/>
        </p:spPr>
        <p:txBody>
          <a:bodyPr wrap="square" lIns="0" tIns="0" rIns="0" bIns="0" rtlCol="0" anchor="t"/>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1850" b="0" i="0" u="none" strike="noStrike" kern="1200" cap="none" spc="0" normalizeH="0" baseline="0" noProof="0" dirty="0">
                <a:ln>
                  <a:noFill/>
                </a:ln>
                <a:solidFill>
                  <a:srgbClr val="3D3838"/>
                </a:solidFill>
                <a:effectLst/>
                <a:uLnTx/>
                <a:uFillTx/>
                <a:latin typeface="Source Sans 3" pitchFamily="34" charset="0"/>
                <a:ea typeface="Source Sans 3" pitchFamily="34" charset="-122"/>
                <a:cs typeface="Source Sans 3" pitchFamily="34" charset="-120"/>
              </a:rPr>
              <a:t>Designed RESTful interfaces that abstract pipeline complexity while providing flexible, performant access to both streaming and historical datasets.</a:t>
            </a:r>
            <a:endParaRPr kumimoji="0" lang="en-US" sz="1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EAF7A5C2-25A1-2DBF-3EB6-014A0FA15204}"/>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0194" y="601147"/>
            <a:ext cx="3897630" cy="487204"/>
          </a:xfrm>
          <a:prstGeom prst="rect">
            <a:avLst/>
          </a:prstGeom>
          <a:noFill/>
          <a:ln/>
        </p:spPr>
        <p:txBody>
          <a:bodyPr wrap="none" lIns="0" tIns="0" rIns="0" bIns="0" rtlCol="0" anchor="t"/>
          <a:lstStyle/>
          <a:p>
            <a:pPr marL="0" marR="0" lvl="0" indent="0" algn="l" defTabSz="914400" rtl="0" eaLnBrk="1" fontAlgn="auto" latinLnBrk="0" hangingPunct="1">
              <a:lnSpc>
                <a:spcPts val="38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000000"/>
                </a:solidFill>
                <a:effectLst/>
                <a:uLnTx/>
                <a:uFillTx/>
                <a:latin typeface="Times New Roman" panose="02020603050405020304" pitchFamily="18" charset="0"/>
                <a:ea typeface="Montserrat Bold" pitchFamily="34" charset="-122"/>
                <a:cs typeface="Times New Roman" panose="02020603050405020304" pitchFamily="18" charset="0"/>
              </a:rPr>
              <a:t>Conclusion</a:t>
            </a:r>
            <a:endParaRPr kumimoji="0" lang="en-US" sz="305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 name="Text 1"/>
          <p:cNvSpPr/>
          <p:nvPr/>
        </p:nvSpPr>
        <p:spPr>
          <a:xfrm>
            <a:off x="600194" y="1431250"/>
            <a:ext cx="13430012" cy="514350"/>
          </a:xfrm>
          <a:prstGeom prst="rect">
            <a:avLst/>
          </a:prstGeom>
          <a:noFill/>
          <a:ln/>
        </p:spPr>
        <p:txBody>
          <a:bodyPr wrap="square" lIns="0" tIns="0" rIns="0" bIns="0" rtlCol="0" anchor="t"/>
          <a:lstStyle/>
          <a:p>
            <a:pPr lvl="0">
              <a:lnSpc>
                <a:spcPts val="2000"/>
              </a:lnSpc>
            </a:pPr>
            <a:r>
              <a:rPr lang="en-US" sz="1600" dirty="0">
                <a:latin typeface="Times New Roman" panose="02020603050405020304" pitchFamily="18" charset="0"/>
                <a:cs typeface="Times New Roman" panose="02020603050405020304" pitchFamily="18" charset="0"/>
              </a:rPr>
              <a:t>This project demonstrates a well-architected data engineering solution that combines modern streaming technologies with established batch processing patterns. The focus is on clarity of design, correctness of data flow, and scalability principles rather than full production hardening.</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Shape 2"/>
          <p:cNvSpPr/>
          <p:nvPr/>
        </p:nvSpPr>
        <p:spPr>
          <a:xfrm>
            <a:off x="600194" y="2138481"/>
            <a:ext cx="6629281" cy="1875957"/>
          </a:xfrm>
          <a:prstGeom prst="roundRect">
            <a:avLst>
              <a:gd name="adj" fmla="val 1576"/>
            </a:avLst>
          </a:prstGeom>
          <a:solidFill>
            <a:srgbClr val="F2EEEE"/>
          </a:solidFill>
          <a:ln/>
        </p:spPr>
      </p:sp>
      <p:sp>
        <p:nvSpPr>
          <p:cNvPr id="5" name="Shape 3"/>
          <p:cNvSpPr/>
          <p:nvPr/>
        </p:nvSpPr>
        <p:spPr>
          <a:xfrm>
            <a:off x="771644" y="2309932"/>
            <a:ext cx="514469" cy="514469"/>
          </a:xfrm>
          <a:prstGeom prst="roundRect">
            <a:avLst>
              <a:gd name="adj" fmla="val 17771888"/>
            </a:avLst>
          </a:prstGeom>
          <a:solidFill>
            <a:srgbClr val="2D2E34"/>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3090" y="2451378"/>
            <a:ext cx="231458" cy="231458"/>
          </a:xfrm>
          <a:prstGeom prst="rect">
            <a:avLst/>
          </a:prstGeom>
        </p:spPr>
      </p:pic>
      <p:sp>
        <p:nvSpPr>
          <p:cNvPr id="7" name="Text 4"/>
          <p:cNvSpPr/>
          <p:nvPr/>
        </p:nvSpPr>
        <p:spPr>
          <a:xfrm>
            <a:off x="771644" y="2995851"/>
            <a:ext cx="2196703" cy="243602"/>
          </a:xfrm>
          <a:prstGeom prst="rect">
            <a:avLst/>
          </a:prstGeom>
          <a:noFill/>
          <a:ln/>
        </p:spPr>
        <p:txBody>
          <a:bodyPr wrap="none" lIns="0" tIns="0" rIns="0" bIns="0" rtlCol="0" anchor="t"/>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Near Real-Time Processing</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 name="Text 5"/>
          <p:cNvSpPr/>
          <p:nvPr/>
        </p:nvSpPr>
        <p:spPr>
          <a:xfrm>
            <a:off x="771644" y="3342322"/>
            <a:ext cx="6286381" cy="257175"/>
          </a:xfrm>
          <a:prstGeom prst="rect">
            <a:avLst/>
          </a:prstGeom>
          <a:noFill/>
          <a:ln/>
        </p:spPr>
        <p:txBody>
          <a:bodyPr wrap="none" lIns="0" tIns="0" rIns="0" bIns="0" rtlCol="0" anchor="t"/>
          <a:lstStyle/>
          <a:p>
            <a:pPr lvl="0">
              <a:lnSpc>
                <a:spcPts val="2000"/>
              </a:lnSpc>
            </a:pPr>
            <a:r>
              <a:rPr lang="en-US" sz="1600" dirty="0"/>
              <a:t>Supports near real-time streaming of high-velocity smart meter data using </a:t>
            </a:r>
            <a:br>
              <a:rPr lang="en-US" sz="1600" dirty="0"/>
            </a:br>
            <a:r>
              <a:rPr lang="en-US" sz="1600" dirty="0"/>
              <a:t>Kafka and Spark Structured Streaming.</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 name="Shape 6"/>
          <p:cNvSpPr/>
          <p:nvPr/>
        </p:nvSpPr>
        <p:spPr>
          <a:xfrm>
            <a:off x="7400925" y="2138482"/>
            <a:ext cx="6629281" cy="1875956"/>
          </a:xfrm>
          <a:prstGeom prst="roundRect">
            <a:avLst>
              <a:gd name="adj" fmla="val 1576"/>
            </a:avLst>
          </a:prstGeom>
          <a:solidFill>
            <a:srgbClr val="F2EEEE"/>
          </a:solidFill>
          <a:ln/>
        </p:spPr>
      </p:sp>
      <p:sp>
        <p:nvSpPr>
          <p:cNvPr id="10" name="Shape 7"/>
          <p:cNvSpPr/>
          <p:nvPr/>
        </p:nvSpPr>
        <p:spPr>
          <a:xfrm>
            <a:off x="7572375" y="2309932"/>
            <a:ext cx="514469" cy="514469"/>
          </a:xfrm>
          <a:prstGeom prst="roundRect">
            <a:avLst>
              <a:gd name="adj" fmla="val 17771888"/>
            </a:avLst>
          </a:prstGeom>
          <a:solidFill>
            <a:srgbClr val="2D2E34"/>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13821" y="2451378"/>
            <a:ext cx="231458" cy="231458"/>
          </a:xfrm>
          <a:prstGeom prst="rect">
            <a:avLst/>
          </a:prstGeom>
        </p:spPr>
      </p:pic>
      <p:sp>
        <p:nvSpPr>
          <p:cNvPr id="12" name="Text 8"/>
          <p:cNvSpPr/>
          <p:nvPr/>
        </p:nvSpPr>
        <p:spPr>
          <a:xfrm>
            <a:off x="7572375" y="2995851"/>
            <a:ext cx="2193131" cy="243602"/>
          </a:xfrm>
          <a:prstGeom prst="rect">
            <a:avLst/>
          </a:prstGeom>
          <a:noFill/>
          <a:ln/>
        </p:spPr>
        <p:txBody>
          <a:bodyPr wrap="none" lIns="0" tIns="0" rIns="0" bIns="0" rtlCol="0" anchor="t"/>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Scalable-by-design Architecture</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3" name="Text 9"/>
          <p:cNvSpPr/>
          <p:nvPr/>
        </p:nvSpPr>
        <p:spPr>
          <a:xfrm>
            <a:off x="7572375" y="3342322"/>
            <a:ext cx="6286381" cy="544354"/>
          </a:xfrm>
          <a:prstGeom prst="rect">
            <a:avLst/>
          </a:prstGeom>
          <a:noFill/>
          <a:ln/>
        </p:spPr>
        <p:txBody>
          <a:bodyPr wrap="none" lIns="0" tIns="0" rIns="0" bIns="0" rtlCol="0" anchor="t"/>
          <a:lstStyle/>
          <a:p>
            <a:pPr lvl="0">
              <a:lnSpc>
                <a:spcPts val="2000"/>
              </a:lnSpc>
            </a:pPr>
            <a:r>
              <a:rPr lang="en-US" sz="1600" dirty="0"/>
              <a:t>Designed with horizontal scalability principles, allowing the system to scale </a:t>
            </a:r>
            <a:br>
              <a:rPr lang="en-US" sz="1600" dirty="0"/>
            </a:br>
            <a:r>
              <a:rPr lang="en-US" sz="1600" dirty="0"/>
              <a:t>with increased data volumes through distributed processing.</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4" name="Shape 10"/>
          <p:cNvSpPr/>
          <p:nvPr/>
        </p:nvSpPr>
        <p:spPr>
          <a:xfrm>
            <a:off x="600194" y="4172238"/>
            <a:ext cx="6629281" cy="1875957"/>
          </a:xfrm>
          <a:prstGeom prst="roundRect">
            <a:avLst>
              <a:gd name="adj" fmla="val 1576"/>
            </a:avLst>
          </a:prstGeom>
          <a:solidFill>
            <a:srgbClr val="F2EEEE"/>
          </a:solidFill>
          <a:ln/>
        </p:spPr>
      </p:sp>
      <p:sp>
        <p:nvSpPr>
          <p:cNvPr id="15" name="Shape 11"/>
          <p:cNvSpPr/>
          <p:nvPr/>
        </p:nvSpPr>
        <p:spPr>
          <a:xfrm>
            <a:off x="771644" y="4343688"/>
            <a:ext cx="514469" cy="514469"/>
          </a:xfrm>
          <a:prstGeom prst="roundRect">
            <a:avLst>
              <a:gd name="adj" fmla="val 17771888"/>
            </a:avLst>
          </a:prstGeom>
          <a:solidFill>
            <a:srgbClr val="2D2E34"/>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3090" y="4485135"/>
            <a:ext cx="231458" cy="231458"/>
          </a:xfrm>
          <a:prstGeom prst="rect">
            <a:avLst/>
          </a:prstGeom>
        </p:spPr>
      </p:pic>
      <p:sp>
        <p:nvSpPr>
          <p:cNvPr id="17" name="Text 12"/>
          <p:cNvSpPr/>
          <p:nvPr/>
        </p:nvSpPr>
        <p:spPr>
          <a:xfrm>
            <a:off x="771644" y="5029608"/>
            <a:ext cx="2127528" cy="243602"/>
          </a:xfrm>
          <a:prstGeom prst="rect">
            <a:avLst/>
          </a:prstGeom>
          <a:noFill/>
          <a:ln/>
        </p:spPr>
        <p:txBody>
          <a:bodyPr wrap="none" lIns="0" tIns="0" rIns="0" bIns="0" rtlCol="0" anchor="t"/>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Clean Data Modeling</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 name="Text 13"/>
          <p:cNvSpPr/>
          <p:nvPr/>
        </p:nvSpPr>
        <p:spPr>
          <a:xfrm>
            <a:off x="771644" y="5376079"/>
            <a:ext cx="6286381" cy="257175"/>
          </a:xfrm>
          <a:prstGeom prst="rect">
            <a:avLst/>
          </a:prstGeom>
          <a:noFill/>
          <a:ln/>
        </p:spPr>
        <p:txBody>
          <a:bodyPr wrap="none" lIns="0" tIns="0" rIns="0" bIns="0" rtlCol="0" anchor="t"/>
          <a:lstStyle/>
          <a:p>
            <a:pPr lvl="0">
              <a:lnSpc>
                <a:spcPts val="2000"/>
              </a:lnSpc>
            </a:pPr>
            <a:r>
              <a:rPr lang="en-US" sz="1600" dirty="0"/>
              <a:t>Well-structured schemas across MySQL, JSON, and Avro formats, enabling </a:t>
            </a:r>
            <a:br>
              <a:rPr lang="en-US" sz="1600" dirty="0"/>
            </a:br>
            <a:r>
              <a:rPr lang="en-US" sz="1600" dirty="0"/>
              <a:t>efficient querying and clear separation of operational and analytical data.</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9" name="Shape 14"/>
          <p:cNvSpPr/>
          <p:nvPr/>
        </p:nvSpPr>
        <p:spPr>
          <a:xfrm>
            <a:off x="7400925" y="4172239"/>
            <a:ext cx="6629281" cy="1875956"/>
          </a:xfrm>
          <a:prstGeom prst="roundRect">
            <a:avLst>
              <a:gd name="adj" fmla="val 1576"/>
            </a:avLst>
          </a:prstGeom>
          <a:solidFill>
            <a:srgbClr val="F2EEEE"/>
          </a:solidFill>
          <a:ln/>
        </p:spPr>
      </p:sp>
      <p:sp>
        <p:nvSpPr>
          <p:cNvPr id="20" name="Shape 15"/>
          <p:cNvSpPr/>
          <p:nvPr/>
        </p:nvSpPr>
        <p:spPr>
          <a:xfrm>
            <a:off x="7572375" y="4343688"/>
            <a:ext cx="514469" cy="514469"/>
          </a:xfrm>
          <a:prstGeom prst="roundRect">
            <a:avLst>
              <a:gd name="adj" fmla="val 17771888"/>
            </a:avLst>
          </a:prstGeom>
          <a:solidFill>
            <a:srgbClr val="2D2E34"/>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13821" y="4485135"/>
            <a:ext cx="231458" cy="231458"/>
          </a:xfrm>
          <a:prstGeom prst="rect">
            <a:avLst/>
          </a:prstGeom>
        </p:spPr>
      </p:pic>
      <p:sp>
        <p:nvSpPr>
          <p:cNvPr id="22" name="Text 16"/>
          <p:cNvSpPr/>
          <p:nvPr/>
        </p:nvSpPr>
        <p:spPr>
          <a:xfrm>
            <a:off x="7572375" y="5029608"/>
            <a:ext cx="2133957" cy="243602"/>
          </a:xfrm>
          <a:prstGeom prst="rect">
            <a:avLst/>
          </a:prstGeom>
          <a:noFill/>
          <a:ln/>
        </p:spPr>
        <p:txBody>
          <a:bodyPr wrap="none" lIns="0" tIns="0" rIns="0" bIns="0" rtlCol="0" anchor="t"/>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Structured Data</a:t>
            </a:r>
            <a:r>
              <a:rPr kumimoji="0" lang="en-US" sz="1600" b="1" i="0" u="none" strike="noStrike" kern="1200" cap="none" spc="0" normalizeH="0" baseline="0" noProof="0" dirty="0">
                <a:ln>
                  <a:noFill/>
                </a:ln>
                <a:solidFill>
                  <a:srgbClr val="3D3838"/>
                </a:solidFill>
                <a:effectLst/>
                <a:uLnTx/>
                <a:uFillTx/>
                <a:latin typeface="Times New Roman" panose="02020603050405020304" pitchFamily="18" charset="0"/>
                <a:ea typeface="Montserrat Bold" pitchFamily="34" charset="-122"/>
                <a:cs typeface="Times New Roman" panose="02020603050405020304" pitchFamily="18" charset="0"/>
              </a:rPr>
              <a:t> Pipelines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3" name="Text 17"/>
          <p:cNvSpPr/>
          <p:nvPr/>
        </p:nvSpPr>
        <p:spPr>
          <a:xfrm>
            <a:off x="7572375" y="5376079"/>
            <a:ext cx="6286381" cy="257175"/>
          </a:xfrm>
          <a:prstGeom prst="rect">
            <a:avLst/>
          </a:prstGeom>
          <a:noFill/>
          <a:ln/>
        </p:spPr>
        <p:txBody>
          <a:bodyPr wrap="none" lIns="0" tIns="0" rIns="0" bIns="0" rtlCol="0" anchor="t"/>
          <a:lstStyle/>
          <a:p>
            <a:pPr lvl="0">
              <a:lnSpc>
                <a:spcPts val="2000"/>
              </a:lnSpc>
            </a:pPr>
            <a:r>
              <a:rPr lang="en-US" sz="1600" dirty="0"/>
              <a:t>Clearly defined streaming and batch pipelines with basic error handling </a:t>
            </a:r>
            <a:br>
              <a:rPr lang="en-US" sz="1600" dirty="0"/>
            </a:br>
            <a:r>
              <a:rPr lang="en-US" sz="1600" dirty="0"/>
              <a:t>and logging, suitable for learning and controlled environments.</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FD2BEBD3-C36C-885A-E67A-DCC1CA9D1BCD}"/>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9BAE-06AD-2576-7BF5-0BA6230F1E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8CCCD1-6CE6-B7EC-9171-949695DADC48}"/>
              </a:ext>
            </a:extLst>
          </p:cNvPr>
          <p:cNvSpPr/>
          <p:nvPr/>
        </p:nvSpPr>
        <p:spPr>
          <a:xfrm>
            <a:off x="5997384" y="3704636"/>
            <a:ext cx="3897630" cy="487204"/>
          </a:xfrm>
          <a:prstGeom prst="rect">
            <a:avLst/>
          </a:prstGeom>
          <a:noFill/>
          <a:ln/>
        </p:spPr>
        <p:txBody>
          <a:bodyPr wrap="none" lIns="0" tIns="0" rIns="0" bIns="0" rtlCol="0" anchor="t"/>
          <a:lstStyle/>
          <a:p>
            <a:pPr marL="0" marR="0" lvl="0" indent="0" algn="l" defTabSz="914400" rtl="0" eaLnBrk="1" fontAlgn="auto" latinLnBrk="0" hangingPunct="1">
              <a:lnSpc>
                <a:spcPts val="38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THANK YOU</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2EAFA178-3C10-C575-18A9-6EC9FE74117C}"/>
              </a:ext>
            </a:extLst>
          </p:cNvPr>
          <p:cNvSpPr/>
          <p:nvPr/>
        </p:nvSpPr>
        <p:spPr>
          <a:xfrm>
            <a:off x="12652057" y="7670840"/>
            <a:ext cx="1920240" cy="5283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2107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TotalTime>
  <Words>1719</Words>
  <Application>Microsoft Office PowerPoint</Application>
  <PresentationFormat>Custom</PresentationFormat>
  <Paragraphs>221</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Times New Roman</vt:lpstr>
      <vt:lpstr>Source Sans 3</vt:lpstr>
      <vt:lpstr>Calibri</vt:lpstr>
      <vt:lpstr>Montserrat Bold</vt:lpstr>
      <vt:lpstr>Arial</vt:lpstr>
      <vt:lpstr>Montserrat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Pranjal Srivastava</cp:lastModifiedBy>
  <cp:revision>3</cp:revision>
  <dcterms:created xsi:type="dcterms:W3CDTF">2025-12-15T18:25:52Z</dcterms:created>
  <dcterms:modified xsi:type="dcterms:W3CDTF">2025-12-16T02:40:22Z</dcterms:modified>
</cp:coreProperties>
</file>