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2" r:id="rId7"/>
    <p:sldId id="267" r:id="rId8"/>
    <p:sldId id="263" r:id="rId9"/>
    <p:sldId id="268" r:id="rId10"/>
    <p:sldId id="260" r:id="rId11"/>
    <p:sldId id="269" r:id="rId12"/>
    <p:sldId id="270" r:id="rId13"/>
    <p:sldId id="271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790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1B14-B5CD-E0FE-BE09-593FA389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2CA2B-C5E7-BF0A-A900-A2E2F8136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F59AC-2DA4-DB35-DC13-BD90052CB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6DCEC-E662-3215-11A6-39C93F849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8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B2D7-5CE7-0F27-3404-01D6A1DB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39268-C38F-EFCE-8C4B-74BB73EF8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B74AE-E2FB-7745-9F2F-3A5640C9D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537D5-D27E-0571-5D2F-33BFBD20B8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3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E1CFA-C7F0-2B24-E9E2-320A1CF4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81220-39D7-5A43-E517-1434C0391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0F776-EDD3-459E-DEA7-EF0A1F3B1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A19B-4780-BFBD-5781-8456B7993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3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494717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Visitor Management System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3995976"/>
            <a:ext cx="593705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Event-Driven Microservices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198" y="4716780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Built with Play Framework, Scala, Akka &amp; Kafka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50198" y="536459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Prepared by:</a:t>
            </a:r>
            <a:r>
              <a:rPr lang="en-US" sz="19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Pranjal Srivastava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436" y="347663"/>
            <a:ext cx="2873573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The Challenge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2436" y="1022747"/>
            <a:ext cx="2135148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Business Requirements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42436" y="1364575"/>
            <a:ext cx="742116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 modern corporate office needs an intelligent system to automate visitor lifecycle management from entry to exit.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2436" y="1667947"/>
            <a:ext cx="7421166" cy="37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The system must seamlessly coordinate between reception staff, host employees, IT support, and security teams—ensuring real-time communication and complete audit trails.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594" y="1038582"/>
            <a:ext cx="6015871" cy="60158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0506" y="2329338"/>
            <a:ext cx="6809542" cy="1203246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619330" y="2415777"/>
            <a:ext cx="379214" cy="379214"/>
          </a:xfrm>
          <a:prstGeom prst="roundRect">
            <a:avLst>
              <a:gd name="adj" fmla="val 24110622"/>
            </a:avLst>
          </a:prstGeom>
          <a:solidFill>
            <a:srgbClr val="2D2E3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628" y="2519956"/>
            <a:ext cx="170617" cy="1706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330" y="2921316"/>
            <a:ext cx="1436727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Check-In/Out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9330" y="3176705"/>
            <a:ext cx="6556891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Automated visitor registration and departure tracking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00149" y="3745944"/>
            <a:ext cx="6809661" cy="1203246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</p:sp>
      <p:sp>
        <p:nvSpPr>
          <p:cNvPr id="13" name="Shape 9"/>
          <p:cNvSpPr/>
          <p:nvPr/>
        </p:nvSpPr>
        <p:spPr>
          <a:xfrm>
            <a:off x="626474" y="3872270"/>
            <a:ext cx="379214" cy="379214"/>
          </a:xfrm>
          <a:prstGeom prst="roundRect">
            <a:avLst>
              <a:gd name="adj" fmla="val 24110622"/>
            </a:avLst>
          </a:prstGeom>
          <a:solidFill>
            <a:srgbClr val="2D2E3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773" y="3976449"/>
            <a:ext cx="170617" cy="1706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474" y="4377809"/>
            <a:ext cx="1436727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Data Capture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26474" y="4633198"/>
            <a:ext cx="6557010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Visitor details, host info, ID proof, and visit purpose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00149" y="6582429"/>
            <a:ext cx="6809542" cy="1203246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</p:sp>
      <p:sp>
        <p:nvSpPr>
          <p:cNvPr id="18" name="Shape 13"/>
          <p:cNvSpPr/>
          <p:nvPr/>
        </p:nvSpPr>
        <p:spPr>
          <a:xfrm>
            <a:off x="626475" y="6708755"/>
            <a:ext cx="379214" cy="379214"/>
          </a:xfrm>
          <a:prstGeom prst="roundRect">
            <a:avLst>
              <a:gd name="adj" fmla="val 24110622"/>
            </a:avLst>
          </a:prstGeom>
          <a:solidFill>
            <a:srgbClr val="2D2E3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773" y="6812934"/>
            <a:ext cx="170617" cy="1706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475" y="7214294"/>
            <a:ext cx="1436727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Smart Alerts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26475" y="7469683"/>
            <a:ext cx="6556891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Real-time notifications to host, IT, and security teams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00268" y="5151833"/>
            <a:ext cx="6809661" cy="1203246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</p:sp>
      <p:sp>
        <p:nvSpPr>
          <p:cNvPr id="23" name="Shape 17"/>
          <p:cNvSpPr/>
          <p:nvPr/>
        </p:nvSpPr>
        <p:spPr>
          <a:xfrm>
            <a:off x="626474" y="5201841"/>
            <a:ext cx="379214" cy="379214"/>
          </a:xfrm>
          <a:prstGeom prst="roundRect">
            <a:avLst>
              <a:gd name="adj" fmla="val 24110622"/>
            </a:avLst>
          </a:prstGeom>
          <a:solidFill>
            <a:srgbClr val="2D2E34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0773" y="5306020"/>
            <a:ext cx="170617" cy="17061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9092" y="5725417"/>
            <a:ext cx="1436727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Modern Stack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619092" y="5980806"/>
            <a:ext cx="6557010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Play, Akka, Kafka, Docker for scalability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3643" y="2499717"/>
            <a:ext cx="6837878" cy="46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Event-Driven Solution Architecture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3643" y="3211235"/>
            <a:ext cx="6659642" cy="2366724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6503" y="3234095"/>
            <a:ext cx="6613922" cy="49172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0473" y="3356967"/>
            <a:ext cx="245864" cy="2458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0333" y="3889653"/>
            <a:ext cx="249507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Play Framework Backend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0333" y="4220766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RESTful API for check-in/check-out operations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0333" y="4523899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Persistent storage of visitor and visit-log data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60333" y="4827032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Secure ID proof upload and reference management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60333" y="5130165"/>
            <a:ext cx="6286262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Event publishing to Kafka topic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visitor_notifications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397115" y="3211235"/>
            <a:ext cx="6659642" cy="2366724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19975" y="3234095"/>
            <a:ext cx="6613922" cy="49172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3944" y="3356967"/>
            <a:ext cx="245864" cy="2458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83805" y="3889653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Akka Microservice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83805" y="4220766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Kafka message consumer with actor-based processing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583805" y="4523899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ServiceCoordinatorActor orchestrates message routing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583805" y="4827032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Specialized actors: HostEmployee, ITSupport, Security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583805" y="5130165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Email delivery and activity logging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3643" y="5741789"/>
            <a:ext cx="6659642" cy="2048351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6503" y="5764649"/>
            <a:ext cx="6613922" cy="49172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80473" y="5887522"/>
            <a:ext cx="245864" cy="2458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0333" y="6420207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Kafka Event Bus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60333" y="6751320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Decouples services for independent scaling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60333" y="7054453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Ensures reliable, asynchronous messaging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60333" y="7357586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Guarantees event delivery and ordering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7397115" y="5741789"/>
            <a:ext cx="6659642" cy="2048351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19975" y="5764649"/>
            <a:ext cx="6613922" cy="49172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03944" y="5887522"/>
            <a:ext cx="245864" cy="2458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83805" y="6420207"/>
            <a:ext cx="1862614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Data Layer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7583805" y="6751320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Slick DAOs manage relational entities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583805" y="7054453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Tables: Visitors, Employees, Departments, VisitLogs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7583805" y="7357586"/>
            <a:ext cx="6286262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Type-safe database queries and transactions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4630400" cy="2048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A7A8-45F0-FF07-6F54-DFF28AE58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2BF92EB-3041-CF53-8422-5BBE0AD35E6D}"/>
              </a:ext>
            </a:extLst>
          </p:cNvPr>
          <p:cNvSpPr/>
          <p:nvPr/>
        </p:nvSpPr>
        <p:spPr>
          <a:xfrm>
            <a:off x="852422" y="624963"/>
            <a:ext cx="7577899" cy="702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Architecture Diagram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0E04698-B1DD-B05A-CA21-16E2E3CDE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3259"/>
            <a:ext cx="14630400" cy="300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3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6048" y="644366"/>
            <a:ext cx="5614868" cy="62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Implementation Flow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48" y="1594366"/>
            <a:ext cx="1094303" cy="2238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9188" y="1813203"/>
            <a:ext cx="2487216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Check-In Flow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79188" y="2255401"/>
            <a:ext cx="6298763" cy="1358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Reception triggers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/checkIn</a:t>
            </a:r>
            <a:r>
              <a:rPr lang="en-US" sz="17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endpoint → VisitorController persists Visitor and VisitLog entities → ID proof uploaded and URL stored → KafkaProducerService builds JSON event → Message published to </a:t>
            </a: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visitor_notifications</a:t>
            </a:r>
            <a:r>
              <a:rPr lang="en-US" sz="17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topic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48" y="3832979"/>
            <a:ext cx="1094303" cy="1864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79188" y="4051816"/>
            <a:ext cx="2648903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Message Processing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079188" y="4494014"/>
            <a:ext cx="6298763" cy="984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KafkaVisitorConsumer listens for incoming events → Parsed JSON sent to ServiceCoordinatorActor → Coordinator intelligently routes to specialized actors → EmailHelper sends notifications to stakeholders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48" y="5697617"/>
            <a:ext cx="1094303" cy="18874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79188" y="5916454"/>
            <a:ext cx="2487216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Check-Out Flow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079188" y="6358652"/>
            <a:ext cx="6298763" cy="100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D3838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/checkout</a:t>
            </a:r>
            <a:r>
              <a:rPr lang="en-US" sz="17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endpoint updates VisitLog status → CHECK_OUT event published to Kafka → Akka actors process exit notifications → Activity logged and notification workflows stopped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603" y="499705"/>
            <a:ext cx="5332690" cy="51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Check-In Sequence Flow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377553"/>
            <a:ext cx="22860" cy="6352342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6590050" y="1570077"/>
            <a:ext cx="543997" cy="22860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111186" y="1377553"/>
            <a:ext cx="408027" cy="40802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191554" y="1426964"/>
            <a:ext cx="24717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1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47805" y="1439823"/>
            <a:ext cx="2060734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Reception Initiates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4603" y="1806059"/>
            <a:ext cx="577393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Staff submits visitor details via web interface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96354" y="2658070"/>
            <a:ext cx="543997" cy="22860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7111186" y="2465546"/>
            <a:ext cx="408027" cy="40802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191554" y="2514957"/>
            <a:ext cx="24717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2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1861" y="2527816"/>
            <a:ext cx="2098715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Play App Processes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1861" y="2894052"/>
            <a:ext cx="577393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Controller validates data, persists to database, uploads ID proof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90050" y="3595807"/>
            <a:ext cx="543997" cy="22860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1186" y="3403283"/>
            <a:ext cx="408027" cy="40802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191554" y="3452693"/>
            <a:ext cx="24717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3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47805" y="3465552"/>
            <a:ext cx="2060734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Event Published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4603" y="3831788"/>
            <a:ext cx="577393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CHECK_IN message sent to Kafka topic with visitor context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96354" y="4533662"/>
            <a:ext cx="543997" cy="22860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1186" y="4341138"/>
            <a:ext cx="408027" cy="40802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7191554" y="4390549"/>
            <a:ext cx="24717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4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1861" y="4403407"/>
            <a:ext cx="2731294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Akka Consumer Receives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1861" y="4769644"/>
            <a:ext cx="577393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KafkaVisitorConsumer picks up message and deserializes JSON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90050" y="5471517"/>
            <a:ext cx="543997" cy="22860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1186" y="5278993"/>
            <a:ext cx="408027" cy="40802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91554" y="5328404"/>
            <a:ext cx="24717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5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11253" y="5341263"/>
            <a:ext cx="2097286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Coordinator Routes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4603" y="5707499"/>
            <a:ext cx="5773936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ServiceCoordinatorActor distributes to HostEmployee, IT, and Security actors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6354" y="6409373"/>
            <a:ext cx="543997" cy="22860"/>
          </a:xfrm>
          <a:prstGeom prst="roundRect">
            <a:avLst>
              <a:gd name="adj" fmla="val 118993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111186" y="6216848"/>
            <a:ext cx="408027" cy="40802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91554" y="6266259"/>
            <a:ext cx="24717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6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1861" y="6279118"/>
            <a:ext cx="2060734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Notifications Sent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1861" y="6645354"/>
            <a:ext cx="577393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EmailHelper delivers customized alerts to all stakeholders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B888-3704-91BC-939F-C35718F47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4FB921C-8823-DF63-38CA-E04DFEB20CEA}"/>
              </a:ext>
            </a:extLst>
          </p:cNvPr>
          <p:cNvSpPr/>
          <p:nvPr/>
        </p:nvSpPr>
        <p:spPr>
          <a:xfrm>
            <a:off x="852422" y="624963"/>
            <a:ext cx="7577899" cy="702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Sequence Diagram for Check-in Flow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A4E05-3BBE-107F-595A-D539D72FE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797"/>
            <a:ext cx="14630400" cy="467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3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721" y="492204"/>
            <a:ext cx="5635228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Check-Out Sequence Flow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21" y="1467803"/>
            <a:ext cx="53542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8620" y="1646277"/>
            <a:ext cx="202846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Exit Registration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38620" y="2078355"/>
            <a:ext cx="714041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Reception staff triggers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/checkout</a:t>
            </a: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endpoint with visitor 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73" y="2717244"/>
            <a:ext cx="53542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6272" y="2895719"/>
            <a:ext cx="202846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Status Update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06272" y="3327797"/>
            <a:ext cx="687276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Play service updates VisitLog with check-out timestamp and status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3966686"/>
            <a:ext cx="53542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74044" y="4145161"/>
            <a:ext cx="202846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Event Broadcast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874044" y="4577239"/>
            <a:ext cx="660499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CHECK_OUT event published to Kafka with exit details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917" y="5216128"/>
            <a:ext cx="53542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41815" y="5394603"/>
            <a:ext cx="202846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Actor Processing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141815" y="5826681"/>
            <a:ext cx="6337221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Akka actors receive message and trigger exit notifications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6465570"/>
            <a:ext cx="53542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74044" y="6644045"/>
            <a:ext cx="233303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Workflow Completion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874044" y="7076122"/>
            <a:ext cx="660499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Exit alerts sent to relevant parties, notification flows terminated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8922187" y="1467803"/>
            <a:ext cx="5090993" cy="1275755"/>
          </a:xfrm>
          <a:prstGeom prst="roundRect">
            <a:avLst>
              <a:gd name="adj" fmla="val 2099"/>
            </a:avLst>
          </a:prstGeom>
          <a:solidFill>
            <a:srgbClr val="D6D7DC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661" y="1725097"/>
            <a:ext cx="223123" cy="1784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502259" y="1690807"/>
            <a:ext cx="4332446" cy="80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Key Benefit: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The system automatically stops all active notifications when a visitor checks out, preventing unnecessary alerts and ensuring clean state management.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A467-818F-A39F-4E5A-B5A8E0AC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685C594-0873-1493-482B-32D0B8C12B33}"/>
              </a:ext>
            </a:extLst>
          </p:cNvPr>
          <p:cNvSpPr/>
          <p:nvPr/>
        </p:nvSpPr>
        <p:spPr>
          <a:xfrm>
            <a:off x="852422" y="624963"/>
            <a:ext cx="7577899" cy="702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Sequence Diagram for Check-out Flow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2440-F39F-AEDF-FBE3-BC26590DF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4748"/>
            <a:ext cx="14630400" cy="435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5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5659" y="976313"/>
            <a:ext cx="6474143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Entity Relationship Model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25659" y="2104430"/>
            <a:ext cx="2880598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Core Entities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25659" y="2675573"/>
            <a:ext cx="3575090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Visitors: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Personal information, contact details, ID proof reference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25659" y="3383042"/>
            <a:ext cx="3575090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Employees: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Host employee data, department association, contact info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25659" y="4407337"/>
            <a:ext cx="3575090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Departments: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Organizational units and hierarchies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25659" y="5114806"/>
            <a:ext cx="3575090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VisitLogs: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Check-in/out timestamps, purpose, status tracking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23671" y="2104430"/>
            <a:ext cx="2880598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Relationships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23671" y="2675573"/>
            <a:ext cx="357509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Visitor </a:t>
            </a: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↔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VisitLog (one-to-many)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23671" y="3073837"/>
            <a:ext cx="3575090" cy="641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Employee </a:t>
            </a: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↔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VisitLog (host assignment)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23671" y="3788926"/>
            <a:ext cx="3575090" cy="641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Employee </a:t>
            </a: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↔</a:t>
            </a: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Department (membership)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23671" y="4504015"/>
            <a:ext cx="3575090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Referential integrity enforced via foreign keys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8A3C8E1-B809-C583-D708-893860C01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75" y="-5239"/>
            <a:ext cx="364453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48DF9FB-A101-7ED6-2DCC-CA542413330F}"/>
              </a:ext>
            </a:extLst>
          </p:cNvPr>
          <p:cNvSpPr/>
          <p:nvPr/>
        </p:nvSpPr>
        <p:spPr>
          <a:xfrm>
            <a:off x="751046" y="591919"/>
            <a:ext cx="9042559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Suggested Improvements &amp; TODOs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68334C8-5FE5-2FB5-A026-7C5442CD0626}"/>
              </a:ext>
            </a:extLst>
          </p:cNvPr>
          <p:cNvSpPr/>
          <p:nvPr/>
        </p:nvSpPr>
        <p:spPr>
          <a:xfrm>
            <a:off x="751046" y="1630620"/>
            <a:ext cx="13128308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While the current implementation is functional, these enhancements would elevate the system to production-grade reliability and operational excellence.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54DB559-6E1E-C1A7-39B1-4761DCEE3FEC}"/>
              </a:ext>
            </a:extLst>
          </p:cNvPr>
          <p:cNvSpPr/>
          <p:nvPr/>
        </p:nvSpPr>
        <p:spPr>
          <a:xfrm>
            <a:off x="751046" y="2515612"/>
            <a:ext cx="4233029" cy="1828086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525D7D0-4B5A-FDB2-A16E-ECC336E8FD79}"/>
              </a:ext>
            </a:extLst>
          </p:cNvPr>
          <p:cNvSpPr/>
          <p:nvPr/>
        </p:nvSpPr>
        <p:spPr>
          <a:xfrm>
            <a:off x="965597" y="2730162"/>
            <a:ext cx="24386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Idempotency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F671B69-ACE6-6EF4-7E71-EC457992DA83}"/>
              </a:ext>
            </a:extLst>
          </p:cNvPr>
          <p:cNvSpPr/>
          <p:nvPr/>
        </p:nvSpPr>
        <p:spPr>
          <a:xfrm>
            <a:off x="965597" y="3163669"/>
            <a:ext cx="3803928" cy="96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Add UUID-based eventId to prevent duplicate message processing and ensure exactly-once semantics.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B75A462-319E-EA46-BD4E-3503E6051935}"/>
              </a:ext>
            </a:extLst>
          </p:cNvPr>
          <p:cNvSpPr/>
          <p:nvPr/>
        </p:nvSpPr>
        <p:spPr>
          <a:xfrm>
            <a:off x="5198626" y="2515612"/>
            <a:ext cx="4233029" cy="1828086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E9CEB53-5A0D-82C8-4EAF-2678744DFE1F}"/>
              </a:ext>
            </a:extLst>
          </p:cNvPr>
          <p:cNvSpPr/>
          <p:nvPr/>
        </p:nvSpPr>
        <p:spPr>
          <a:xfrm>
            <a:off x="5413177" y="2730162"/>
            <a:ext cx="24386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Outbox Pattern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0B032A0-69A5-A1A1-B976-2B8A8F52B40E}"/>
              </a:ext>
            </a:extLst>
          </p:cNvPr>
          <p:cNvSpPr/>
          <p:nvPr/>
        </p:nvSpPr>
        <p:spPr>
          <a:xfrm>
            <a:off x="5413177" y="3163669"/>
            <a:ext cx="3803928" cy="96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Implement transactional outbox to guarantee event publishing even during Kafka failures.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6E24C3C-8F3C-A135-35A9-B5B0137F7384}"/>
              </a:ext>
            </a:extLst>
          </p:cNvPr>
          <p:cNvSpPr/>
          <p:nvPr/>
        </p:nvSpPr>
        <p:spPr>
          <a:xfrm>
            <a:off x="9646206" y="2515612"/>
            <a:ext cx="4233029" cy="1828086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54F2CDE-4237-F066-F283-4B58A2AB5DDA}"/>
              </a:ext>
            </a:extLst>
          </p:cNvPr>
          <p:cNvSpPr/>
          <p:nvPr/>
        </p:nvSpPr>
        <p:spPr>
          <a:xfrm>
            <a:off x="9860756" y="2730162"/>
            <a:ext cx="24386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Email Templates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2480D63-86CD-1C83-0AE2-580CB5B74CE3}"/>
              </a:ext>
            </a:extLst>
          </p:cNvPr>
          <p:cNvSpPr/>
          <p:nvPr/>
        </p:nvSpPr>
        <p:spPr>
          <a:xfrm>
            <a:off x="9860756" y="3163669"/>
            <a:ext cx="3803928" cy="96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Extract HTML email templates into separate files for easier maintenance and designer collaboration.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32B5256-3320-2EC3-37D1-CC2B9249F2A7}"/>
              </a:ext>
            </a:extLst>
          </p:cNvPr>
          <p:cNvSpPr/>
          <p:nvPr/>
        </p:nvSpPr>
        <p:spPr>
          <a:xfrm>
            <a:off x="751046" y="4585037"/>
            <a:ext cx="482798" cy="48279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9F43253-BA7A-0BA7-19B9-B5642D180BCE}"/>
              </a:ext>
            </a:extLst>
          </p:cNvPr>
          <p:cNvSpPr/>
          <p:nvPr/>
        </p:nvSpPr>
        <p:spPr>
          <a:xfrm>
            <a:off x="1448395" y="4658737"/>
            <a:ext cx="24686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Security Hardening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6A722C4-DD4E-032B-1596-9BF337788B07}"/>
              </a:ext>
            </a:extLst>
          </p:cNvPr>
          <p:cNvSpPr/>
          <p:nvPr/>
        </p:nvSpPr>
        <p:spPr>
          <a:xfrm>
            <a:off x="1448395" y="5092243"/>
            <a:ext cx="5732621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Enable TLS encryption for Kafka connections and implement SASL authentication for producer/consumer authorization.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FFFDF60-EE08-4A30-88BA-1406B81D4B60}"/>
              </a:ext>
            </a:extLst>
          </p:cNvPr>
          <p:cNvSpPr/>
          <p:nvPr/>
        </p:nvSpPr>
        <p:spPr>
          <a:xfrm>
            <a:off x="7449264" y="4585037"/>
            <a:ext cx="482798" cy="48279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BBCBD18-B25C-E2DB-153D-8B83FE01993F}"/>
              </a:ext>
            </a:extLst>
          </p:cNvPr>
          <p:cNvSpPr/>
          <p:nvPr/>
        </p:nvSpPr>
        <p:spPr>
          <a:xfrm>
            <a:off x="8146613" y="4658737"/>
            <a:ext cx="24386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Observability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6F3B865-0BFE-89E7-2677-D5FD2E74CC3A}"/>
              </a:ext>
            </a:extLst>
          </p:cNvPr>
          <p:cNvSpPr/>
          <p:nvPr/>
        </p:nvSpPr>
        <p:spPr>
          <a:xfrm>
            <a:off x="8146613" y="5092243"/>
            <a:ext cx="5732740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Integrate Prometheus metrics for monitoring actor mailbox sizes, message processing rates, and system health indicators.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E6EDDE26-B072-7641-E9B2-4B8A62C2372D}"/>
              </a:ext>
            </a:extLst>
          </p:cNvPr>
          <p:cNvSpPr/>
          <p:nvPr/>
        </p:nvSpPr>
        <p:spPr>
          <a:xfrm>
            <a:off x="751046" y="6164996"/>
            <a:ext cx="482798" cy="48279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2682B6F-2426-895B-7CFA-FCE5CCC81E2D}"/>
              </a:ext>
            </a:extLst>
          </p:cNvPr>
          <p:cNvSpPr/>
          <p:nvPr/>
        </p:nvSpPr>
        <p:spPr>
          <a:xfrm>
            <a:off x="1448395" y="6238696"/>
            <a:ext cx="24386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Error Handling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EF6B3EE-DE77-1025-72A6-68BAB171601E}"/>
              </a:ext>
            </a:extLst>
          </p:cNvPr>
          <p:cNvSpPr/>
          <p:nvPr/>
        </p:nvSpPr>
        <p:spPr>
          <a:xfrm>
            <a:off x="1448395" y="6672202"/>
            <a:ext cx="5732621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Configure dead letter queue (DLQ) for failed messages and implement retry logic with exponential backoff.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60A929A1-208D-2530-A09E-F4F7FCEC7C8D}"/>
              </a:ext>
            </a:extLst>
          </p:cNvPr>
          <p:cNvSpPr/>
          <p:nvPr/>
        </p:nvSpPr>
        <p:spPr>
          <a:xfrm>
            <a:off x="7449264" y="6164996"/>
            <a:ext cx="482798" cy="48279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ED37D03-A2A2-8F48-56C8-50A397C7B7F7}"/>
              </a:ext>
            </a:extLst>
          </p:cNvPr>
          <p:cNvSpPr/>
          <p:nvPr/>
        </p:nvSpPr>
        <p:spPr>
          <a:xfrm>
            <a:off x="8146613" y="6238696"/>
            <a:ext cx="28398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Testing &amp; Deployment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0CAC13B-2C41-551F-3437-74850F851106}"/>
              </a:ext>
            </a:extLst>
          </p:cNvPr>
          <p:cNvSpPr/>
          <p:nvPr/>
        </p:nvSpPr>
        <p:spPr>
          <a:xfrm>
            <a:off x="8146613" y="6672202"/>
            <a:ext cx="5732740" cy="96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Expand unit test coverage for DAOs and actors, optimize Dockerfiles, and establish CI/CD pipeline with automated deployments.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94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12AFCC-D9F3-0978-7366-4267FB952188}"/>
              </a:ext>
            </a:extLst>
          </p:cNvPr>
          <p:cNvSpPr/>
          <p:nvPr/>
        </p:nvSpPr>
        <p:spPr>
          <a:xfrm>
            <a:off x="1147338" y="3434517"/>
            <a:ext cx="3350816" cy="50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Any Questions ?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39161B2-48DA-8E17-0ED2-5F5080787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1" y="726440"/>
            <a:ext cx="6776720" cy="677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83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A82E0C-858D-7D3F-946F-7B51F67B3CBA}"/>
              </a:ext>
            </a:extLst>
          </p:cNvPr>
          <p:cNvSpPr txBox="1"/>
          <p:nvPr/>
        </p:nvSpPr>
        <p:spPr>
          <a:xfrm>
            <a:off x="5631366" y="3737356"/>
            <a:ext cx="2865863" cy="75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Thank you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056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713</Words>
  <Application>Microsoft Office PowerPoint</Application>
  <PresentationFormat>Custom</PresentationFormat>
  <Paragraphs>115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Pranjal Srivastava</cp:lastModifiedBy>
  <cp:revision>3</cp:revision>
  <dcterms:created xsi:type="dcterms:W3CDTF">2025-11-25T21:46:06Z</dcterms:created>
  <dcterms:modified xsi:type="dcterms:W3CDTF">2025-11-26T08:22:28Z</dcterms:modified>
</cp:coreProperties>
</file>