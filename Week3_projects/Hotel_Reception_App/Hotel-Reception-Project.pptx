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4" r:id="rId2"/>
    <p:sldId id="257" r:id="rId3"/>
    <p:sldId id="258" r:id="rId4"/>
    <p:sldId id="265" r:id="rId5"/>
    <p:sldId id="266" r:id="rId6"/>
    <p:sldId id="267" r:id="rId7"/>
    <p:sldId id="259" r:id="rId8"/>
    <p:sldId id="260" r:id="rId9"/>
    <p:sldId id="261" r:id="rId10"/>
    <p:sldId id="262" r:id="rId11"/>
    <p:sldId id="263" r:id="rId12"/>
    <p:sldId id="268" r:id="rId13"/>
    <p:sldId id="269" r:id="rId14"/>
  </p:sldIdLst>
  <p:sldSz cx="14630400" cy="8229600"/>
  <p:notesSz cx="8229600" cy="14630400"/>
  <p:embeddedFontLst>
    <p:embeddedFont>
      <p:font typeface="Source Sans 3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396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C2FF-F02D-FC5F-A82D-4BCC812B8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E7C32-2453-F3A1-D6A9-0D2F6B24E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59151-616A-E4AA-B7B2-4CE468478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FE185-61C5-D398-7F7E-22B9FCF2C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15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421C7-92D0-5161-CDE6-372E4F491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7CAC1-20C5-BB0C-1730-CCA1893C2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39BD0-CF4A-8654-9102-5B276C069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5862D-F397-C7CE-BFA8-93023BDBA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72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21BE-D15E-C46A-BD77-D3C3F71FF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45ED4-6DB0-2BA1-5A76-5B85AB1F4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28C53-2FA5-245A-78BA-B527385E7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DF2D7-F761-30B2-C089-4A34C2E94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29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19EF4B-D7E0-4C94-4FED-4E77D6725CE3}"/>
              </a:ext>
            </a:extLst>
          </p:cNvPr>
          <p:cNvSpPr/>
          <p:nvPr/>
        </p:nvSpPr>
        <p:spPr>
          <a:xfrm>
            <a:off x="7688345" y="2494717"/>
            <a:ext cx="5937052" cy="705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Hotel Reception App</a:t>
            </a:r>
            <a:endParaRPr lang="en-US" sz="4400" dirty="0">
              <a:ea typeface="Montserrat Bold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8358C0-DAF2-4D45-FC09-D92F5D01C1B7}"/>
              </a:ext>
            </a:extLst>
          </p:cNvPr>
          <p:cNvSpPr/>
          <p:nvPr/>
        </p:nvSpPr>
        <p:spPr>
          <a:xfrm>
            <a:off x="7688344" y="3496346"/>
            <a:ext cx="593705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Event-Driven Microservices Architecture</a:t>
            </a:r>
            <a:endParaRPr lang="en-US" sz="2200" dirty="0">
              <a:latin typeface="Montserrat Bold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624797-C2C4-0BE1-1845-48174F8B02C6}"/>
              </a:ext>
            </a:extLst>
          </p:cNvPr>
          <p:cNvSpPr/>
          <p:nvPr/>
        </p:nvSpPr>
        <p:spPr>
          <a:xfrm>
            <a:off x="7688344" y="4159219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Built with Play Framework, Scala, Akka &amp; Kafka</a:t>
            </a:r>
            <a:endParaRPr lang="en-US" sz="1900" dirty="0">
              <a:latin typeface="Montserrat Bold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4954EA-E172-E27E-8E54-F25FC9BE9A15}"/>
              </a:ext>
            </a:extLst>
          </p:cNvPr>
          <p:cNvSpPr/>
          <p:nvPr/>
        </p:nvSpPr>
        <p:spPr>
          <a:xfrm>
            <a:off x="7688343" y="4856747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Prepared by:</a:t>
            </a:r>
            <a:r>
              <a:rPr lang="en-US" sz="190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 Pranjal Srivastava</a:t>
            </a:r>
            <a:endParaRPr lang="en-US" sz="1900" dirty="0">
              <a:latin typeface="Montserrat Bold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5E0FDB9-2E28-5C13-DD70-CF8959DBB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477"/>
            <a:ext cx="73152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9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94648"/>
            <a:ext cx="288357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D2E34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Problem Statement</a:t>
            </a:r>
            <a:endParaRPr lang="en-US" sz="2200" dirty="0">
              <a:ea typeface="Montserrat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1443990"/>
            <a:ext cx="649414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/>
                <a:ea typeface="Montserrat Bold"/>
                <a:cs typeface="Montserrat Bold" pitchFamily="34" charset="-120"/>
              </a:rPr>
              <a:t>System Requirements</a:t>
            </a:r>
            <a:endParaRPr lang="en-US" sz="4400" dirty="0">
              <a:latin typeface="Montserrat Bold"/>
              <a:ea typeface="Montserrat Bold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2515433"/>
            <a:ext cx="12902803" cy="1388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A hotel (10 floors, identical layout) requires a Reception Desk application to manage guest check-ins and check-outs, allocate rooms across three categories (Deluxe, Luxury, Luxury Suite) with per-category pricing, and securely store guest data and ID proofs.</a:t>
            </a:r>
          </a:p>
          <a:p>
            <a:pPr algn="l">
              <a:lnSpc>
                <a:spcPts val="3600"/>
              </a:lnSpc>
            </a:pPr>
            <a:endParaRPr lang="en-US" sz="2400" dirty="0">
              <a:latin typeface="Montserrat Bold"/>
              <a:ea typeface="Montserrat Bold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3798" y="4437596"/>
            <a:ext cx="12902803" cy="1388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After successful check-in, the system must asynchronously notify Room Service (welcome email), Wi-Fi Service (Wi-Fi credentials), and Restaurant Service (send daily menu every morning while the guest is active).</a:t>
            </a:r>
            <a:endParaRPr lang="en-US" sz="2400" dirty="0">
              <a:latin typeface="Montserrat Bold"/>
              <a:ea typeface="Montserrat Bold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3798" y="5917391"/>
            <a:ext cx="12902803" cy="1388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The Play Framework app is the booking system and produces Kafka events; an Akka-based microservice consumes those events, uses the Actor Model to orchestrate the three services, schedules daily restaurant menus while a guest is checked in, and cancels them at check-out.</a:t>
            </a:r>
            <a:endParaRPr lang="en-US" sz="2400" dirty="0">
              <a:latin typeface="Montserrat Bold"/>
              <a:ea typeface="Montserra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3798" y="1483112"/>
            <a:ext cx="12874504" cy="628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endParaRPr lang="en-US" sz="4800" dirty="0">
              <a:latin typeface="Montserrat Bold"/>
            </a:endParaRPr>
          </a:p>
        </p:txBody>
      </p:sp>
      <p:sp>
        <p:nvSpPr>
          <p:cNvPr id="4" name="Text 1"/>
          <p:cNvSpPr/>
          <p:nvPr/>
        </p:nvSpPr>
        <p:spPr>
          <a:xfrm>
            <a:off x="863798" y="256478"/>
            <a:ext cx="10416897" cy="981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00"/>
              </a:lnSpc>
              <a:buNone/>
            </a:pPr>
            <a:r>
              <a:rPr lang="en-US" sz="6600" dirty="0">
                <a:solidFill>
                  <a:srgbClr val="000000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Overall design (summary)</a:t>
            </a:r>
            <a:endParaRPr lang="en-US" sz="6600" dirty="0">
              <a:latin typeface="Montserrat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DBF251-6E15-94B1-E4A7-371101828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7" y="1483111"/>
            <a:ext cx="14468388" cy="62892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EA5D5-742F-C231-47DA-A2C1CC56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8C82CE91-B554-2289-412C-93571F75F705}"/>
              </a:ext>
            </a:extLst>
          </p:cNvPr>
          <p:cNvSpPr/>
          <p:nvPr/>
        </p:nvSpPr>
        <p:spPr>
          <a:xfrm>
            <a:off x="863798" y="256478"/>
            <a:ext cx="10416897" cy="981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600"/>
              </a:lnSpc>
            </a:pPr>
            <a:r>
              <a:rPr lang="en-IN" sz="5400" dirty="0">
                <a:latin typeface="Montserrat Bold"/>
              </a:rPr>
              <a:t>Sequence Diagram – Check-in Flow</a:t>
            </a:r>
            <a:endParaRPr lang="en-US" sz="5400" dirty="0">
              <a:latin typeface="Montserrat 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15E5C-4445-DD40-591D-32F420145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906859"/>
            <a:ext cx="14630401" cy="525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3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9C9F2-7413-7123-E1ED-7D7E652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F09AB751-6C7C-281A-D11E-B2D55DC67061}"/>
              </a:ext>
            </a:extLst>
          </p:cNvPr>
          <p:cNvSpPr/>
          <p:nvPr/>
        </p:nvSpPr>
        <p:spPr>
          <a:xfrm>
            <a:off x="863798" y="256478"/>
            <a:ext cx="10064397" cy="79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600"/>
              </a:lnSpc>
            </a:pPr>
            <a:r>
              <a:rPr lang="en-IN" sz="5400" dirty="0">
                <a:latin typeface="Montserrat Bold"/>
              </a:rPr>
              <a:t>Sequence Diagram – Check-out Flow</a:t>
            </a:r>
            <a:endParaRPr lang="en-US" sz="5400" dirty="0">
              <a:latin typeface="Montserrat 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0C4013-0E20-BFD1-E776-D79A7B3F6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34" y="2085278"/>
            <a:ext cx="14039386" cy="475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39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F16C2-8AD0-72BD-774D-C56944FD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9C94FD92-4987-B7C9-48DF-630DB7432EBD}"/>
              </a:ext>
            </a:extLst>
          </p:cNvPr>
          <p:cNvSpPr/>
          <p:nvPr/>
        </p:nvSpPr>
        <p:spPr>
          <a:xfrm>
            <a:off x="863799" y="256478"/>
            <a:ext cx="4199122" cy="981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600"/>
              </a:lnSpc>
            </a:pPr>
            <a:r>
              <a:rPr lang="en-IN" sz="6600" dirty="0">
                <a:latin typeface="Montserrat Bold"/>
              </a:rPr>
              <a:t>ER Diagram</a:t>
            </a:r>
            <a:endParaRPr lang="en-US" sz="6050" dirty="0">
              <a:latin typeface="Montserrat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00FE6A-FEE7-D495-3645-772096491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252" y="198382"/>
            <a:ext cx="4873349" cy="78328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6B9144-18F4-2AE5-3529-E0DCE89D7424}"/>
              </a:ext>
            </a:extLst>
          </p:cNvPr>
          <p:cNvSpPr txBox="1"/>
          <p:nvPr/>
        </p:nvSpPr>
        <p:spPr>
          <a:xfrm>
            <a:off x="863798" y="1730130"/>
            <a:ext cx="73152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tserrat Bold"/>
              </a:rPr>
              <a:t>The database contains four main entities: </a:t>
            </a:r>
            <a:r>
              <a:rPr lang="en-US" dirty="0" err="1">
                <a:latin typeface="Montserrat Bold"/>
              </a:rPr>
              <a:t>room_categories</a:t>
            </a:r>
            <a:r>
              <a:rPr lang="en-US" dirty="0">
                <a:latin typeface="Montserrat Bold"/>
              </a:rPr>
              <a:t>, rooms, guests, and bookings.</a:t>
            </a:r>
          </a:p>
          <a:p>
            <a:endParaRPr lang="en-US" dirty="0">
              <a:latin typeface="Montserrat 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Montserrat Bold"/>
              </a:rPr>
              <a:t>room_categories:</a:t>
            </a:r>
            <a:br>
              <a:rPr lang="en-US" dirty="0">
                <a:latin typeface="Montserrat Bold"/>
              </a:rPr>
            </a:br>
            <a:r>
              <a:rPr lang="en-US" dirty="0">
                <a:latin typeface="Montserrat Bold"/>
              </a:rPr>
              <a:t>Stores the different room types (Deluxe, Luxury, Luxury Suite), each with its own price; one category can have many rooms.</a:t>
            </a:r>
          </a:p>
          <a:p>
            <a:endParaRPr lang="en-US" dirty="0">
              <a:latin typeface="Montserrat 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Montserrat Bold"/>
              </a:rPr>
              <a:t>rooms:</a:t>
            </a:r>
            <a:br>
              <a:rPr lang="en-US" dirty="0">
                <a:latin typeface="Montserrat Bold"/>
              </a:rPr>
            </a:br>
            <a:r>
              <a:rPr lang="en-US" dirty="0">
                <a:latin typeface="Montserrat Bold"/>
              </a:rPr>
              <a:t>Represents individual hotel rooms with room number, floor, and category; each room belongs to one category and can have many bookings over time.</a:t>
            </a:r>
          </a:p>
          <a:p>
            <a:endParaRPr lang="en-US" dirty="0">
              <a:latin typeface="Montserrat 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Montserrat Bold"/>
              </a:rPr>
              <a:t>guests:</a:t>
            </a:r>
            <a:br>
              <a:rPr lang="en-US" dirty="0">
                <a:latin typeface="Montserrat Bold"/>
              </a:rPr>
            </a:br>
            <a:r>
              <a:rPr lang="en-US" dirty="0">
                <a:latin typeface="Montserrat Bold"/>
              </a:rPr>
              <a:t>Contains guest details like name, email, contact, address, and ID proof; one guest can have multiple bookings.</a:t>
            </a:r>
          </a:p>
          <a:p>
            <a:endParaRPr lang="en-US" dirty="0">
              <a:latin typeface="Montserrat 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Montserrat Bold"/>
              </a:rPr>
              <a:t>bookings:</a:t>
            </a:r>
            <a:br>
              <a:rPr lang="en-US" dirty="0">
                <a:latin typeface="Montserrat Bold"/>
              </a:rPr>
            </a:br>
            <a:r>
              <a:rPr lang="en-US" dirty="0">
                <a:latin typeface="Montserrat Bold"/>
              </a:rPr>
              <a:t>Links a guest to a room with check-in/check-out details and booking status; each booking belongs to one guest and one room.</a:t>
            </a:r>
          </a:p>
        </p:txBody>
      </p:sp>
    </p:spTree>
    <p:extLst>
      <p:ext uri="{BB962C8B-B14F-4D97-AF65-F5344CB8AC3E}">
        <p14:creationId xmlns:p14="http://schemas.microsoft.com/office/powerpoint/2010/main" val="418039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095738"/>
            <a:ext cx="796718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Play App </a:t>
            </a:r>
            <a:r>
              <a:rPr lang="en-US" sz="4400" b="1" dirty="0">
                <a:solidFill>
                  <a:srgbClr val="2D2E34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(Booking Service)</a:t>
            </a:r>
            <a:endParaRPr lang="en-US" sz="4400" dirty="0">
              <a:ea typeface="Montserrat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798" y="3290649"/>
            <a:ext cx="4136350" cy="2843093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latin typeface="Montserrat Bold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0615" y="353746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REST APIs</a:t>
            </a:r>
            <a:endParaRPr lang="en-US" sz="2200" dirty="0">
              <a:latin typeface="Montserrat Bold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615" y="4036100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Exposes REST APIs for bookings, guest/room management.</a:t>
            </a:r>
            <a:endParaRPr lang="en-US" sz="1900" dirty="0">
              <a:latin typeface="Montserrat Bol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46965" y="3290649"/>
            <a:ext cx="4136350" cy="2843093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latin typeface="Montserrat Bold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93782" y="353746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Data Persistence</a:t>
            </a:r>
            <a:endParaRPr lang="en-US" sz="2200" dirty="0">
              <a:latin typeface="Montserrat Bold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93782" y="4036100"/>
            <a:ext cx="364271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Uses Slick DAOs and a relational DB to persist Guests, Rooms, Room Categories, Bookings (files under app/models/).</a:t>
            </a:r>
            <a:endParaRPr lang="en-US" sz="1900" dirty="0">
              <a:ea typeface="Montserrat Bol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30132" y="3290649"/>
            <a:ext cx="4136350" cy="2843093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ea typeface="Montserrat Bol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76949" y="353746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Event Publishing</a:t>
            </a:r>
            <a:endParaRPr lang="en-US" sz="2200" dirty="0">
              <a:ea typeface="Montserrat Bol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6949" y="4036100"/>
            <a:ext cx="3642717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Publishes booking lifecycle events (CHECK_IN, CHECK_OUT) as JSON messages to Kafka topic hotel_notifications via KafkaProducerService.scala.</a:t>
            </a:r>
            <a:endParaRPr lang="en-US" sz="1900" dirty="0">
              <a:latin typeface="Montserra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838" y="630793"/>
            <a:ext cx="8752523" cy="651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Notification Microservice </a:t>
            </a:r>
            <a:r>
              <a:rPr lang="en-US" sz="4100" b="1" dirty="0">
                <a:solidFill>
                  <a:srgbClr val="2D2E34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(Akka)</a:t>
            </a:r>
            <a:endParaRPr lang="en-US" sz="4100" dirty="0">
              <a:ea typeface="Montserrat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802838" y="1741170"/>
            <a:ext cx="13024723" cy="43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250" b="1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Kafka Consumer (KafkaBookingConsumer.scala)</a:t>
            </a:r>
            <a:r>
              <a:rPr lang="en-US" sz="2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 subscribes to hotel_notifications.</a:t>
            </a:r>
            <a:endParaRPr lang="en-US" sz="2250" dirty="0">
              <a:latin typeface="Montserrat Bold"/>
            </a:endParaRPr>
          </a:p>
        </p:txBody>
      </p:sp>
      <p:sp>
        <p:nvSpPr>
          <p:cNvPr id="4" name="Text 2"/>
          <p:cNvSpPr/>
          <p:nvPr/>
        </p:nvSpPr>
        <p:spPr>
          <a:xfrm>
            <a:off x="802838" y="2429351"/>
            <a:ext cx="13024723" cy="43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On message receive, forwards parsed JSON to ServiceCoordinatorActor.</a:t>
            </a:r>
            <a:endParaRPr lang="en-US" sz="2250" dirty="0">
              <a:latin typeface="Montserrat Bold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2838" y="3203615"/>
            <a:ext cx="8140065" cy="39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ServiceCoordinatorActor coordinates child actors:</a:t>
            </a:r>
            <a:endParaRPr lang="en-US" sz="2450" dirty="0">
              <a:latin typeface="Montserrat Bold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838" y="3967282"/>
            <a:ext cx="229314" cy="2293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2838" y="4297918"/>
            <a:ext cx="4188619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IN">
              <a:ea typeface="Montserrat Bold"/>
            </a:endParaRPr>
          </a:p>
        </p:txBody>
      </p:sp>
      <p:sp>
        <p:nvSpPr>
          <p:cNvPr id="8" name="Text 5"/>
          <p:cNvSpPr/>
          <p:nvPr/>
        </p:nvSpPr>
        <p:spPr>
          <a:xfrm>
            <a:off x="802838" y="4473535"/>
            <a:ext cx="2606873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RoomServiceActor</a:t>
            </a:r>
            <a:endParaRPr lang="en-US" sz="2050" dirty="0">
              <a:ea typeface="Montserrat Bold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2838" y="4937046"/>
            <a:ext cx="4188619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One-time welcome email.</a:t>
            </a:r>
            <a:endParaRPr lang="en-US" sz="1800" dirty="0">
              <a:latin typeface="Montserrat Bold"/>
              <a:ea typeface="Montserrat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0772" y="3967282"/>
            <a:ext cx="229314" cy="22931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220772" y="4297918"/>
            <a:ext cx="4188738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IN">
              <a:latin typeface="Montserrat Bold"/>
              <a:ea typeface="Montserrat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20772" y="4473535"/>
            <a:ext cx="2606873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/>
                <a:ea typeface="Montserrat Bold"/>
                <a:cs typeface="Montserrat Bold" pitchFamily="34" charset="-120"/>
              </a:rPr>
              <a:t>WifiServiceActor</a:t>
            </a:r>
            <a:endParaRPr lang="en-US" sz="2050" dirty="0">
              <a:latin typeface="Montserrat Bold"/>
              <a:ea typeface="Montserrat Bold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220772" y="4937046"/>
            <a:ext cx="4188738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Sends credentials email.</a:t>
            </a:r>
            <a:endParaRPr lang="en-US" sz="1800" dirty="0">
              <a:latin typeface="Montserrat Bold"/>
              <a:ea typeface="Montserrat Bold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8824" y="3967282"/>
            <a:ext cx="229314" cy="22931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638824" y="4297918"/>
            <a:ext cx="4188619" cy="3048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IN">
              <a:latin typeface="Montserrat Bold"/>
              <a:ea typeface="Montserrat Bold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9638824" y="4473535"/>
            <a:ext cx="324385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/>
                <a:ea typeface="Montserrat Bold"/>
                <a:cs typeface="Montserrat Bold" pitchFamily="34" charset="-120"/>
              </a:rPr>
              <a:t>RestaurantServiceActor</a:t>
            </a:r>
            <a:endParaRPr lang="en-US" sz="2050" dirty="0">
              <a:latin typeface="Montserrat Bold"/>
              <a:ea typeface="Montserrat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638824" y="4937046"/>
            <a:ext cx="4188619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Single email on check-in and scheduled daily menu sends while guest is active.</a:t>
            </a:r>
            <a:endParaRPr lang="en-US" sz="1800" dirty="0">
              <a:latin typeface="Montserrat Bold"/>
              <a:ea typeface="Montserrat Bold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02838" y="6055281"/>
            <a:ext cx="13024723" cy="86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250" b="1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GuestRegistryActor</a:t>
            </a:r>
            <a:r>
              <a:rPr lang="en-US" sz="2250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 keeps an in-memory map of active guests; scheduled job in RootBehavior triggers SendDailyMenus which iterates active guests and calls RestaurantServiceActor.SendMenu.</a:t>
            </a:r>
            <a:endParaRPr lang="en-US" sz="2250" dirty="0">
              <a:latin typeface="Montserrat Bold"/>
              <a:ea typeface="Montserrat Bold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02838" y="7173635"/>
            <a:ext cx="13024723" cy="43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250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EmailHelper is used to send emails via SMTP.</a:t>
            </a:r>
            <a:endParaRPr lang="en-US" sz="2250" dirty="0">
              <a:latin typeface="Montserrat Bold"/>
              <a:ea typeface="Montserrat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2"/>
          <p:cNvSpPr/>
          <p:nvPr/>
        </p:nvSpPr>
        <p:spPr>
          <a:xfrm>
            <a:off x="777716" y="6088022"/>
            <a:ext cx="6426398" cy="1441639"/>
          </a:xfrm>
          <a:prstGeom prst="roundRect">
            <a:avLst>
              <a:gd name="adj" fmla="val 902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>
              <a:ea typeface="Montserrat Bold"/>
            </a:endParaRPr>
          </a:p>
        </p:txBody>
      </p:sp>
      <p:sp>
        <p:nvSpPr>
          <p:cNvPr id="2" name="Text 0"/>
          <p:cNvSpPr/>
          <p:nvPr/>
        </p:nvSpPr>
        <p:spPr>
          <a:xfrm>
            <a:off x="777716" y="611029"/>
            <a:ext cx="9019818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Key Nonfunctional Considerations</a:t>
            </a:r>
            <a:endParaRPr lang="en-US" sz="3950" dirty="0">
              <a:ea typeface="Montserrat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716" y="1331119"/>
            <a:ext cx="4069199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D2E34"/>
                </a:solidFill>
                <a:latin typeface="Montserrat Bold"/>
                <a:ea typeface="Montserrat Bold"/>
                <a:cs typeface="Montserrat Bold" pitchFamily="34" charset="-120"/>
              </a:rPr>
              <a:t>Implemented / Recommended</a:t>
            </a:r>
            <a:endParaRPr lang="en-US" sz="1950" dirty="0">
              <a:latin typeface="Montserrat Bold"/>
              <a:ea typeface="Montserrat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716" y="1980009"/>
            <a:ext cx="6426398" cy="1954292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>
              <a:latin typeface="Montserrat Bold"/>
              <a:ea typeface="Montserrat Bol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7236" y="1980009"/>
            <a:ext cx="121920" cy="1954292"/>
          </a:xfrm>
          <a:prstGeom prst="roundRect">
            <a:avLst>
              <a:gd name="adj" fmla="val 2734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IN">
              <a:latin typeface="Montserrat Bold"/>
              <a:ea typeface="Montserrat Bol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1807" y="2232660"/>
            <a:ext cx="346495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Montserrat Bold"/>
                <a:ea typeface="Montserrat Bold"/>
                <a:cs typeface="Montserrat Bold" pitchFamily="34" charset="-120"/>
              </a:rPr>
              <a:t>Asynchronous decoupling</a:t>
            </a:r>
            <a:endParaRPr lang="en-US" sz="1950" dirty="0">
              <a:latin typeface="Montserrat Bold"/>
              <a:ea typeface="Montserrat Bold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1807" y="2681526"/>
            <a:ext cx="5829657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Kafka decouples booking and notification flow; Play pushes events and immediately returns (low latency for reception desk).</a:t>
            </a:r>
            <a:endParaRPr lang="en-US" sz="1700" dirty="0">
              <a:ea typeface="Montserrat Bol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716" y="4156472"/>
            <a:ext cx="6426398" cy="1620917"/>
          </a:xfrm>
          <a:prstGeom prst="roundRect">
            <a:avLst>
              <a:gd name="adj" fmla="val 902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>
              <a:ea typeface="Montserrat Bol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7236" y="4156472"/>
            <a:ext cx="121920" cy="1620917"/>
          </a:xfrm>
          <a:prstGeom prst="roundRect">
            <a:avLst>
              <a:gd name="adj" fmla="val 2734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IN">
              <a:ea typeface="Montserrat Bol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21807" y="4409122"/>
            <a:ext cx="252531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Scheduling</a:t>
            </a:r>
            <a:endParaRPr lang="en-US" sz="1950" dirty="0">
              <a:ea typeface="Montserrat Bol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21807" y="4857988"/>
            <a:ext cx="5829657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Akka scheduler in RootBehavior triggers daily menu dispatches.</a:t>
            </a:r>
            <a:endParaRPr lang="en-US" sz="1700" dirty="0">
              <a:latin typeface="Montserrat Bol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6285" y="4156472"/>
            <a:ext cx="6426398" cy="1620917"/>
          </a:xfrm>
          <a:prstGeom prst="roundRect">
            <a:avLst>
              <a:gd name="adj" fmla="val 902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>
              <a:latin typeface="Montserrat Bol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95805" y="4156472"/>
            <a:ext cx="121920" cy="1620917"/>
          </a:xfrm>
          <a:prstGeom prst="roundRect">
            <a:avLst>
              <a:gd name="adj" fmla="val 2734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IN">
              <a:latin typeface="Montserrat Bol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0376" y="4409122"/>
            <a:ext cx="252531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Persistence</a:t>
            </a:r>
            <a:endParaRPr lang="en-US" sz="1950" dirty="0">
              <a:latin typeface="Montserrat Bol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0376" y="4857988"/>
            <a:ext cx="5829657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DB (Slick DAOs) stores guests, rooms, bookings and ID proof references (files or URIs).</a:t>
            </a:r>
            <a:endParaRPr lang="en-US" sz="1700" dirty="0">
              <a:ea typeface="Montserrat Bol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72005" y="1980009"/>
            <a:ext cx="6426398" cy="1954292"/>
          </a:xfrm>
          <a:prstGeom prst="roundRect">
            <a:avLst>
              <a:gd name="adj" fmla="val 902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>
              <a:ea typeface="Montserrat Bol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44975" y="1980009"/>
            <a:ext cx="121920" cy="1954292"/>
          </a:xfrm>
          <a:prstGeom prst="roundRect">
            <a:avLst>
              <a:gd name="adj" fmla="val 2734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IN">
              <a:ea typeface="Montserrat Bol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1807" y="6403535"/>
            <a:ext cx="252531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Security</a:t>
            </a:r>
            <a:endParaRPr lang="en-US" sz="1950" dirty="0">
              <a:ea typeface="Montserrat Bol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21807" y="6862911"/>
            <a:ext cx="5829657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Protect APIs with authentication (JWT/OAuth2).</a:t>
            </a:r>
            <a:endParaRPr lang="en-US" sz="1700" dirty="0">
              <a:latin typeface="Montserrat Bol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6808" y="6088022"/>
            <a:ext cx="122347" cy="1441640"/>
          </a:xfrm>
          <a:prstGeom prst="roundRect">
            <a:avLst>
              <a:gd name="adj" fmla="val 27342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IN">
              <a:latin typeface="Montserrat Bol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807756" y="2291151"/>
            <a:ext cx="252531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Scaling</a:t>
            </a:r>
            <a:endParaRPr lang="en-US" sz="1950" dirty="0">
              <a:latin typeface="Montserrat Bol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807756" y="2740017"/>
            <a:ext cx="5829657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Kafka plus Akka cluster for horizontal scaling of notifications. Database isolation and proper locking for room allocation.</a:t>
            </a:r>
            <a:endParaRPr lang="en-US" sz="1700" dirty="0">
              <a:ea typeface="Montserrat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736" y="438864"/>
            <a:ext cx="7362587" cy="45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Akka Actor Hierarchy &amp; Message Flows</a:t>
            </a:r>
            <a:endParaRPr lang="en-US" sz="2800" dirty="0">
              <a:latin typeface="Montserrat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6736" y="954405"/>
            <a:ext cx="2076331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D2E34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Mapping to your code</a:t>
            </a:r>
            <a:endParaRPr lang="en-US" sz="1400" dirty="0">
              <a:ea typeface="Montserrat Bold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6736" y="1243846"/>
            <a:ext cx="2169438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/>
                <a:ea typeface="Montserrat Bold"/>
                <a:cs typeface="Montserrat Bold" pitchFamily="34" charset="-120"/>
              </a:rPr>
              <a:t>Actors in repo</a:t>
            </a:r>
            <a:endParaRPr lang="en-US" sz="1700" dirty="0">
              <a:latin typeface="Montserrat Bold"/>
              <a:ea typeface="Montserrat Bold"/>
            </a:endParaRPr>
          </a:p>
        </p:txBody>
      </p:sp>
      <p:sp>
        <p:nvSpPr>
          <p:cNvPr id="5" name="Text 3"/>
          <p:cNvSpPr/>
          <p:nvPr/>
        </p:nvSpPr>
        <p:spPr>
          <a:xfrm>
            <a:off x="556736" y="1753553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ServiceCoordinatorActor</a:t>
            </a: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 (file actors/ServiceCoordinatorActor.scala): Entry point for JSON events. Parses "CHECK_IN" and "CHECK_OUT" and dispatches to service actors.</a:t>
            </a:r>
            <a:endParaRPr lang="en-US" sz="1250" dirty="0">
              <a:ea typeface="Montserrat Bold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6736" y="2047756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RoomServiceActor</a:t>
            </a: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 (actors/RoomServiceActor.scala): SendWelcomeEmail(name, email, roomNo, category).</a:t>
            </a:r>
            <a:endParaRPr lang="en-US" sz="1250" dirty="0">
              <a:ea typeface="Montserrat Bold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6736" y="2341959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WifiServiceActor</a:t>
            </a: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 (actors/WifiServiceActor.scala): SendWifiCredentials(email, wifiUser, wifiPass).</a:t>
            </a:r>
            <a:endParaRPr lang="en-US" sz="1250" dirty="0">
              <a:ea typeface="Montserrat Bold"/>
            </a:endParaRPr>
          </a:p>
        </p:txBody>
      </p:sp>
      <p:sp>
        <p:nvSpPr>
          <p:cNvPr id="8" name="Text 6"/>
          <p:cNvSpPr/>
          <p:nvPr/>
        </p:nvSpPr>
        <p:spPr>
          <a:xfrm>
            <a:off x="556736" y="2636163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RestaurantServiceActor</a:t>
            </a: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 (actors/RestaurantServiceActor.scala): SendMenu(name, email, roomNo).</a:t>
            </a:r>
            <a:endParaRPr lang="en-US" sz="1250" dirty="0">
              <a:ea typeface="Montserrat Bold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6736" y="2930366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b="1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GuestRegistryActor</a:t>
            </a: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 (actors/GuestRegistryActor.scala): In-memory map of active guests, receives GuestCheckedIn, GuestCheckedOut, SendDailyMenus.</a:t>
            </a:r>
            <a:endParaRPr lang="en-US" sz="1250" dirty="0">
              <a:ea typeface="Montserrat Bol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6736" y="3407569"/>
            <a:ext cx="2476976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Flow / responsibilities</a:t>
            </a:r>
            <a:endParaRPr lang="en-US" sz="1700" dirty="0">
              <a:ea typeface="Montserrat Bol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6736" y="3917275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KafkaBookingConsumer receives raw JSON and coordinator ! ServiceCoordinatorActor.ProcessBookingEvent(parsedJson)</a:t>
            </a:r>
            <a:endParaRPr lang="en-US" sz="1250" dirty="0">
              <a:latin typeface="Montserrat Bol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6736" y="4211479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ServiceCoordinatorActor pattern-matches event type and:</a:t>
            </a:r>
            <a:endParaRPr lang="en-US" sz="1250" dirty="0">
              <a:latin typeface="Montserrat Bol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6736" y="4505682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On CHECK_IN:</a:t>
            </a:r>
            <a:endParaRPr lang="en-US" sz="1250" dirty="0">
              <a:latin typeface="Montserrat Bol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6736" y="4799886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Extract guest name, email, room info.</a:t>
            </a:r>
            <a:endParaRPr lang="en-US" sz="1250" dirty="0">
              <a:latin typeface="Montserrat Bol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56736" y="5094089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Send RoomServiceActor.SendWelcomeEmail</a:t>
            </a:r>
            <a:endParaRPr lang="en-US" sz="1250" dirty="0">
              <a:latin typeface="Montserrat Bol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6736" y="5388293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Send WifiServiceActor.SendWifiCredentials</a:t>
            </a:r>
            <a:endParaRPr lang="en-US" sz="1250" dirty="0">
              <a:latin typeface="Montserrat Bol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6736" y="5682496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Send GuestRegistryActor.GuestCheckedIn (so scheduler will include guest)</a:t>
            </a:r>
            <a:endParaRPr lang="en-US" sz="1250" dirty="0">
              <a:latin typeface="Montserrat Bol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56736" y="5976699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On CHECK_OUT:</a:t>
            </a:r>
            <a:endParaRPr lang="en-US" sz="1250" dirty="0">
              <a:latin typeface="Montserrat Bol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56736" y="6270903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Send GuestRegistryActor.GuestCheckedOut (remove guest)</a:t>
            </a:r>
            <a:endParaRPr lang="en-US" sz="1250" dirty="0">
              <a:latin typeface="Montserrat Bol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6736" y="6565106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Montserrat Bold"/>
                <a:ea typeface="Source Sans 3" pitchFamily="34" charset="-122"/>
                <a:cs typeface="Source Sans 3" pitchFamily="34" charset="-120"/>
              </a:rPr>
              <a:t>Optionally inform actors to cancel pending tasks.</a:t>
            </a:r>
            <a:endParaRPr lang="en-US" sz="1250" dirty="0">
              <a:latin typeface="Montserrat Bol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6736" y="7042309"/>
            <a:ext cx="2169438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Scheduler</a:t>
            </a:r>
            <a:endParaRPr lang="en-US" sz="1700" dirty="0">
              <a:latin typeface="Montserrat Bol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6736" y="7552015"/>
            <a:ext cx="1351692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RootBehavior schedules guestRegistry ! GuestRegistryActor.SendDailyMenus at a configured time (calculated to next occurrence of target hour; code does this).</a:t>
            </a:r>
            <a:endParaRPr lang="en-US" sz="1250" dirty="0">
              <a:ea typeface="Montserrat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44" y="620197"/>
            <a:ext cx="7484031" cy="50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Suggested Improvements &amp; TODOs</a:t>
            </a:r>
            <a:endParaRPr lang="en-US" sz="3150" dirty="0">
              <a:ea typeface="Montserrat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44" y="1195745"/>
            <a:ext cx="275415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E34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Actionable and prioritized</a:t>
            </a:r>
            <a:endParaRPr lang="en-US" sz="1550" dirty="0">
              <a:latin typeface="Montserrat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1744" y="1714619"/>
            <a:ext cx="399693" cy="39969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ea typeface="Montserrat Bold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0445" y="1763018"/>
            <a:ext cx="24217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1</a:t>
            </a:r>
            <a:endParaRPr lang="en-US" sz="1900" dirty="0">
              <a:ea typeface="Montserrat Bol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99078" y="1775579"/>
            <a:ext cx="201870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Idempotency</a:t>
            </a:r>
            <a:endParaRPr lang="en-US" sz="1550" dirty="0">
              <a:latin typeface="Montserrat Bold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99078" y="2134553"/>
            <a:ext cx="12809577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Montserrat Bold"/>
                <a:cs typeface="Source Sans 3" pitchFamily="34" charset="-120"/>
              </a:rPr>
              <a:t>Include correlationId in Kafka messages to make reprocessing safe.</a:t>
            </a:r>
            <a:endParaRPr lang="en-US" sz="1350" dirty="0">
              <a:ea typeface="Montserrat Bol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44" y="2756297"/>
            <a:ext cx="399693" cy="39969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ea typeface="Montserrat Bold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0445" y="2804696"/>
            <a:ext cx="24217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/>
                <a:cs typeface="Montserrat Bold" pitchFamily="34" charset="-120"/>
              </a:rPr>
              <a:t>2</a:t>
            </a:r>
            <a:endParaRPr lang="en-US" sz="1900" dirty="0">
              <a:ea typeface="Montserrat Bol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99078" y="2817257"/>
            <a:ext cx="201870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Montserrat Bold"/>
                <a:ea typeface="Montserrat Bold"/>
                <a:cs typeface="Montserrat Bold" pitchFamily="34" charset="-120"/>
              </a:rPr>
              <a:t>Email reliability</a:t>
            </a:r>
            <a:endParaRPr lang="en-US" sz="1550" dirty="0">
              <a:latin typeface="Montserrat Bold"/>
              <a:ea typeface="Montserrat Bol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99078" y="3176230"/>
            <a:ext cx="12809577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Wrap EmailHelper.sendEmail with retries, and persist notification status in DB for auditing.</a:t>
            </a:r>
            <a:endParaRPr lang="en-US" sz="1350" dirty="0">
              <a:latin typeface="Montserrat Bold"/>
              <a:ea typeface="Montserrat Bol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44" y="3797975"/>
            <a:ext cx="399693" cy="39969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latin typeface="Montserrat Bold"/>
              <a:ea typeface="Montserrat Bol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0445" y="3846374"/>
            <a:ext cx="24217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/>
                <a:ea typeface="Montserrat Bold"/>
                <a:cs typeface="Montserrat Bold" pitchFamily="34" charset="-120"/>
              </a:rPr>
              <a:t>3</a:t>
            </a:r>
            <a:endParaRPr lang="en-US" sz="1900" dirty="0">
              <a:latin typeface="Montserrat Bold"/>
              <a:ea typeface="Montserrat Bol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99078" y="3858935"/>
            <a:ext cx="315360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Montserrat Bold"/>
                <a:ea typeface="Montserrat Bold"/>
                <a:cs typeface="Montserrat Bold" pitchFamily="34" charset="-120"/>
              </a:rPr>
              <a:t>Persistence of scheduled jobs</a:t>
            </a:r>
            <a:endParaRPr lang="en-US" sz="1550" dirty="0">
              <a:latin typeface="Montserrat Bold"/>
              <a:ea typeface="Montserrat Bol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99078" y="4217908"/>
            <a:ext cx="12809577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GuestRegistryActor is in-memory — restart loses active guests. Persist active guest list or use persistent actors / a small DB table to keep scheduled state.</a:t>
            </a:r>
            <a:endParaRPr lang="en-US" sz="1350" dirty="0">
              <a:latin typeface="Montserrat Bold"/>
              <a:ea typeface="Montserrat Bol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44" y="4839653"/>
            <a:ext cx="399693" cy="39969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latin typeface="Montserrat Bold"/>
              <a:ea typeface="Montserrat Bol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00445" y="4888051"/>
            <a:ext cx="24217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/>
                <a:ea typeface="Montserrat Bold"/>
                <a:cs typeface="Montserrat Bold" pitchFamily="34" charset="-120"/>
              </a:rPr>
              <a:t>4</a:t>
            </a:r>
            <a:endParaRPr lang="en-US" sz="1900" dirty="0">
              <a:latin typeface="Montserrat Bold"/>
              <a:ea typeface="Montserrat Bol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99078" y="4900613"/>
            <a:ext cx="312229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550" b="1" dirty="0">
                <a:solidFill>
                  <a:srgbClr val="3D3838"/>
                </a:solidFill>
                <a:latin typeface="Montserrat Bold"/>
                <a:ea typeface="Montserrat Bold"/>
                <a:cs typeface="Montserrat Bold" pitchFamily="34" charset="-120"/>
              </a:rPr>
              <a:t>Monitoring</a:t>
            </a:r>
            <a:endParaRPr lang="en-US" sz="1550" dirty="0">
              <a:latin typeface="Montserrat Bold"/>
              <a:ea typeface="Montserrat Bol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99078" y="5259586"/>
            <a:ext cx="12809577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350" dirty="0">
                <a:solidFill>
                  <a:srgbClr val="3D3838"/>
                </a:solidFill>
                <a:latin typeface="Montserrat Bold"/>
                <a:ea typeface="Montserrat Bold"/>
                <a:cs typeface="Source Sans 3" pitchFamily="34" charset="-120"/>
              </a:rPr>
              <a:t>Add metrics for Kafka consumer lag, actor mailbox sizes, email failures.</a:t>
            </a:r>
            <a:endParaRPr lang="en-US" sz="1350" dirty="0">
              <a:latin typeface="Montserrat Bold"/>
              <a:ea typeface="Montserrat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12AFCC-D9F3-0978-7366-4267FB952188}"/>
              </a:ext>
            </a:extLst>
          </p:cNvPr>
          <p:cNvSpPr/>
          <p:nvPr/>
        </p:nvSpPr>
        <p:spPr>
          <a:xfrm>
            <a:off x="1147338" y="3434517"/>
            <a:ext cx="3350816" cy="50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Any Questions ?</a:t>
            </a:r>
            <a:endParaRPr lang="en-US" sz="3150" dirty="0">
              <a:latin typeface="Montserrat Bold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39161B2-48DA-8E17-0ED2-5F5080787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121" y="726440"/>
            <a:ext cx="6776720" cy="6776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836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A82E0C-858D-7D3F-946F-7B51F67B3CBA}"/>
              </a:ext>
            </a:extLst>
          </p:cNvPr>
          <p:cNvSpPr txBox="1"/>
          <p:nvPr/>
        </p:nvSpPr>
        <p:spPr>
          <a:xfrm>
            <a:off x="5631366" y="3737356"/>
            <a:ext cx="2865863" cy="754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ontserrat Bold"/>
                <a:ea typeface="Montserrat Bold" pitchFamily="34" charset="-122"/>
                <a:cs typeface="Montserrat Bold" pitchFamily="34" charset="-120"/>
              </a:rPr>
              <a:t>Thank you</a:t>
            </a:r>
            <a:endParaRPr lang="en-US" sz="4000" dirty="0"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3943056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879</Words>
  <Application>Microsoft Office PowerPoint</Application>
  <PresentationFormat>Custom</PresentationFormat>
  <Paragraphs>100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Montserrat Bold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Pranjal Srivastava</cp:lastModifiedBy>
  <cp:revision>3</cp:revision>
  <dcterms:created xsi:type="dcterms:W3CDTF">2025-11-25T20:12:35Z</dcterms:created>
  <dcterms:modified xsi:type="dcterms:W3CDTF">2025-11-26T03:19:33Z</dcterms:modified>
</cp:coreProperties>
</file>